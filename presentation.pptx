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61" r:id="rId2"/>
    <p:sldId id="262" r:id="rId3"/>
    <p:sldId id="272" r:id="rId4"/>
    <p:sldId id="275" r:id="rId5"/>
    <p:sldId id="265" r:id="rId6"/>
    <p:sldId id="267" r:id="rId7"/>
    <p:sldId id="270" r:id="rId8"/>
    <p:sldId id="271" r:id="rId9"/>
    <p:sldId id="273" r:id="rId10"/>
    <p:sldId id="274" r:id="rId11"/>
    <p:sldId id="259" r:id="rId1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768" autoAdjust="0"/>
  </p:normalViewPr>
  <p:slideViewPr>
    <p:cSldViewPr snapToGrid="0">
      <p:cViewPr>
        <p:scale>
          <a:sx n="66" d="100"/>
          <a:sy n="66" d="100"/>
        </p:scale>
        <p:origin x="1330" y="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2DE816-4AEB-4C5E-88A4-F622554AF666}" type="datetimeFigureOut">
              <a:rPr lang="en-GB" smtClean="0"/>
              <a:t>26/05/2026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FC2F5D-A00A-4392-B28E-0201BF8C74BB}" type="slidenum">
              <a:rPr lang="en-GB" smtClean="0"/>
              <a:t>‹#›</a:t>
            </a:fld>
            <a:endParaRPr lang="en-GB"/>
          </a:p>
        </p:txBody>
      </p:sp>
    </p:spTree>
    <p:extLst>
      <p:ext uri="{BB962C8B-B14F-4D97-AF65-F5344CB8AC3E}">
        <p14:creationId xmlns:p14="http://schemas.microsoft.com/office/powerpoint/2010/main" val="1266318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6EBE3E2-2B74-4E4F-B4E3-2A3C31E4FD1F}" type="slidenum">
              <a:rPr lang="en-GB" smtClean="0"/>
              <a:t>1</a:t>
            </a:fld>
            <a:endParaRPr lang="en-GB"/>
          </a:p>
        </p:txBody>
      </p:sp>
    </p:spTree>
    <p:extLst>
      <p:ext uri="{BB962C8B-B14F-4D97-AF65-F5344CB8AC3E}">
        <p14:creationId xmlns:p14="http://schemas.microsoft.com/office/powerpoint/2010/main" val="1289421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791F7-471E-36CA-9673-C443ACE7E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4B4E37-05D8-A0AE-12C8-97918B23CE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BB869B-FFE4-8749-03A4-FAFA02FF5DF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7C93B6-72D8-BD07-C8A1-00C55ABE975C}"/>
              </a:ext>
            </a:extLst>
          </p:cNvPr>
          <p:cNvSpPr>
            <a:spLocks noGrp="1"/>
          </p:cNvSpPr>
          <p:nvPr>
            <p:ph type="sldNum" sz="quarter" idx="5"/>
          </p:nvPr>
        </p:nvSpPr>
        <p:spPr/>
        <p:txBody>
          <a:bodyPr/>
          <a:lstStyle/>
          <a:p>
            <a:fld id="{67FC2F5D-A00A-4392-B28E-0201BF8C74BB}" type="slidenum">
              <a:rPr lang="en-GB" smtClean="0"/>
              <a:t>3</a:t>
            </a:fld>
            <a:endParaRPr lang="en-GB"/>
          </a:p>
        </p:txBody>
      </p:sp>
    </p:spTree>
    <p:extLst>
      <p:ext uri="{BB962C8B-B14F-4D97-AF65-F5344CB8AC3E}">
        <p14:creationId xmlns:p14="http://schemas.microsoft.com/office/powerpoint/2010/main" val="4155630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CA277-7FDC-29B6-D9DF-50A9321DEA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B70BB8-4308-D6D4-8E9D-7096F4DD12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FD81D-731B-025B-BD8D-48FCE4F6C5D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117E3BD-4CC1-D604-8881-31DE2EF76833}"/>
              </a:ext>
            </a:extLst>
          </p:cNvPr>
          <p:cNvSpPr>
            <a:spLocks noGrp="1"/>
          </p:cNvSpPr>
          <p:nvPr>
            <p:ph type="sldNum" sz="quarter" idx="5"/>
          </p:nvPr>
        </p:nvSpPr>
        <p:spPr/>
        <p:txBody>
          <a:bodyPr/>
          <a:lstStyle/>
          <a:p>
            <a:fld id="{67FC2F5D-A00A-4392-B28E-0201BF8C74BB}" type="slidenum">
              <a:rPr lang="en-GB" smtClean="0"/>
              <a:t>4</a:t>
            </a:fld>
            <a:endParaRPr lang="en-GB"/>
          </a:p>
        </p:txBody>
      </p:sp>
    </p:spTree>
    <p:extLst>
      <p:ext uri="{BB962C8B-B14F-4D97-AF65-F5344CB8AC3E}">
        <p14:creationId xmlns:p14="http://schemas.microsoft.com/office/powerpoint/2010/main" val="31848622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we introduce speech recognition using </a:t>
            </a:r>
            <a:r>
              <a:rPr lang="en-GB" dirty="0" err="1"/>
              <a:t>Vosk</a:t>
            </a:r>
            <a:r>
              <a:rPr lang="en-GB" dirty="0"/>
              <a:t> and Kaldi. The input is a raw audio signal, which is converted into MFCC features (Mel-Frequency Cepstral Coefficients). These features represent important speech frequencies based on how humans perceive sound.</a:t>
            </a:r>
          </a:p>
          <a:p>
            <a:r>
              <a:rPr lang="en-GB" dirty="0" err="1"/>
              <a:t>Vosk</a:t>
            </a:r>
            <a:r>
              <a:rPr lang="en-GB" dirty="0"/>
              <a:t> and Kaldi mainly use two models. First, the acoustic model maps these audio features to possible speech sounds. In this pipeline, a GMM-HMM based acoustic model is used. Gaussian Mixture Models, or GMMs, are used to model the probability of speech sounds, while Hidden Markov Models, or HMMs, model how speech changes over time.</a:t>
            </a:r>
          </a:p>
          <a:p>
            <a:r>
              <a:rPr lang="en-GB" dirty="0"/>
              <a:t>Then, the language model predicts the most likely word sequence using word probabilities and grammar statistics. Finally, the decoder combines the acoustic model scores and the language model scores to determine the most probable sentence or command.</a:t>
            </a:r>
          </a:p>
          <a:p>
            <a:r>
              <a:rPr lang="en-GB" dirty="0"/>
              <a:t>In our project, we extract commands like ‘up’, ‘down’, ‘left’, ‘right’, and ‘exit’ to control the maze game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5"/>
          </p:nvPr>
        </p:nvSpPr>
        <p:spPr/>
        <p:txBody>
          <a:bodyPr/>
          <a:lstStyle/>
          <a:p>
            <a:fld id="{67FC2F5D-A00A-4392-B28E-0201BF8C74BB}" type="slidenum">
              <a:rPr lang="en-GB" smtClean="0"/>
              <a:t>5</a:t>
            </a:fld>
            <a:endParaRPr lang="en-GB"/>
          </a:p>
        </p:txBody>
      </p:sp>
    </p:spTree>
    <p:extLst>
      <p:ext uri="{BB962C8B-B14F-4D97-AF65-F5344CB8AC3E}">
        <p14:creationId xmlns:p14="http://schemas.microsoft.com/office/powerpoint/2010/main" val="33494194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992B-4C1C-92A7-ABA9-43DB1242C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72793-F39E-4D8D-FFCE-055433012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CEF1A-0CD4-4905-BB5D-8582A9CFD82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https://alphacephei.com/vosk/models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 </a:t>
            </a:r>
            <a:r>
              <a:rPr lang="en-GB" sz="1200" b="0" i="0" kern="1200" dirty="0" err="1">
                <a:solidFill>
                  <a:schemeClr val="tx1"/>
                </a:solidFill>
                <a:effectLst/>
                <a:latin typeface="+mn-lt"/>
                <a:ea typeface="+mn-ea"/>
                <a:cs typeface="+mn-cs"/>
              </a:rPr>
              <a:t>zwei</a:t>
            </a:r>
            <a:r>
              <a:rPr lang="en-GB" sz="1200" b="0" i="0" kern="1200" dirty="0">
                <a:solidFill>
                  <a:schemeClr val="tx1"/>
                </a:solidFill>
                <a:effectLst/>
                <a:latin typeface="+mn-lt"/>
                <a:ea typeface="+mn-ea"/>
                <a:cs typeface="+mn-cs"/>
              </a:rPr>
              <a:t> test </a:t>
            </a:r>
            <a:r>
              <a:rPr lang="en-GB" sz="1200" b="0" i="0" kern="1200" dirty="0" err="1">
                <a:solidFill>
                  <a:schemeClr val="tx1"/>
                </a:solidFill>
                <a:effectLst/>
                <a:latin typeface="+mn-lt"/>
                <a:ea typeface="+mn-ea"/>
                <a:cs typeface="+mn-cs"/>
              </a:rPr>
              <a:t>zwsichen</a:t>
            </a:r>
            <a:r>
              <a:rPr lang="en-GB" sz="1200" b="0" i="0" kern="1200" dirty="0">
                <a:solidFill>
                  <a:schemeClr val="tx1"/>
                </a:solidFill>
                <a:effectLst/>
                <a:latin typeface="+mn-lt"/>
                <a:ea typeface="+mn-ea"/>
                <a:cs typeface="+mn-cs"/>
              </a:rPr>
              <a:t> 9.85 und 10.38 WER</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9.85 (</a:t>
            </a:r>
            <a:r>
              <a:rPr lang="en-GB" sz="1200" b="0" i="0" kern="1200" dirty="0" err="1">
                <a:solidFill>
                  <a:schemeClr val="tx1"/>
                </a:solidFill>
                <a:effectLst/>
                <a:latin typeface="+mn-lt"/>
                <a:ea typeface="+mn-ea"/>
                <a:cs typeface="+mn-cs"/>
              </a:rPr>
              <a:t>librispeech</a:t>
            </a:r>
            <a:r>
              <a:rPr lang="en-GB" sz="1200" b="0" i="0" kern="1200" dirty="0">
                <a:solidFill>
                  <a:schemeClr val="tx1"/>
                </a:solidFill>
                <a:effectLst/>
                <a:latin typeface="+mn-lt"/>
                <a:ea typeface="+mn-ea"/>
                <a:cs typeface="+mn-cs"/>
              </a:rPr>
              <a:t> test-clean) 10.38 (</a:t>
            </a:r>
            <a:r>
              <a:rPr lang="en-GB" sz="1200" b="0" i="0" kern="1200" dirty="0" err="1">
                <a:solidFill>
                  <a:schemeClr val="tx1"/>
                </a:solidFill>
                <a:effectLst/>
                <a:latin typeface="+mn-lt"/>
                <a:ea typeface="+mn-ea"/>
                <a:cs typeface="+mn-cs"/>
              </a:rPr>
              <a:t>tedlium</a:t>
            </a:r>
            <a:r>
              <a:rPr lang="en-GB" sz="1200" b="0" i="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2203D6CD-C99E-101E-81A6-C45D25930183}"/>
              </a:ext>
            </a:extLst>
          </p:cNvPr>
          <p:cNvSpPr>
            <a:spLocks noGrp="1"/>
          </p:cNvSpPr>
          <p:nvPr>
            <p:ph type="sldNum" sz="quarter" idx="5"/>
          </p:nvPr>
        </p:nvSpPr>
        <p:spPr/>
        <p:txBody>
          <a:bodyPr/>
          <a:lstStyle/>
          <a:p>
            <a:fld id="{67FC2F5D-A00A-4392-B28E-0201BF8C74BB}" type="slidenum">
              <a:rPr lang="en-GB" smtClean="0"/>
              <a:t>6</a:t>
            </a:fld>
            <a:endParaRPr lang="en-GB"/>
          </a:p>
        </p:txBody>
      </p:sp>
    </p:spTree>
    <p:extLst>
      <p:ext uri="{BB962C8B-B14F-4D97-AF65-F5344CB8AC3E}">
        <p14:creationId xmlns:p14="http://schemas.microsoft.com/office/powerpoint/2010/main" val="3075283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ECA78-4AB8-A85A-AFCD-0818DF9C4E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A382E-819C-7106-3083-9BEE8C4E24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64A91-D28B-F968-1722-7278EA94902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B615E4B-577E-AF0F-3A25-102794F6C231}"/>
              </a:ext>
            </a:extLst>
          </p:cNvPr>
          <p:cNvSpPr>
            <a:spLocks noGrp="1"/>
          </p:cNvSpPr>
          <p:nvPr>
            <p:ph type="sldNum" sz="quarter" idx="5"/>
          </p:nvPr>
        </p:nvSpPr>
        <p:spPr/>
        <p:txBody>
          <a:bodyPr/>
          <a:lstStyle/>
          <a:p>
            <a:fld id="{67FC2F5D-A00A-4392-B28E-0201BF8C74BB}" type="slidenum">
              <a:rPr lang="en-GB" smtClean="0"/>
              <a:t>7</a:t>
            </a:fld>
            <a:endParaRPr lang="en-GB"/>
          </a:p>
        </p:txBody>
      </p:sp>
    </p:spTree>
    <p:extLst>
      <p:ext uri="{BB962C8B-B14F-4D97-AF65-F5344CB8AC3E}">
        <p14:creationId xmlns:p14="http://schemas.microsoft.com/office/powerpoint/2010/main" val="36485000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00ACA-D4A8-DDB3-2FE0-1C53DF495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861AA4-8115-E8A9-EF6C-D647AE623E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F3C81B-F4DC-45A1-DD32-C9BEA16F4C0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522BE93-F0D7-B8EC-2B2F-CA3A69993ED7}"/>
              </a:ext>
            </a:extLst>
          </p:cNvPr>
          <p:cNvSpPr>
            <a:spLocks noGrp="1"/>
          </p:cNvSpPr>
          <p:nvPr>
            <p:ph type="sldNum" sz="quarter" idx="5"/>
          </p:nvPr>
        </p:nvSpPr>
        <p:spPr/>
        <p:txBody>
          <a:bodyPr/>
          <a:lstStyle/>
          <a:p>
            <a:fld id="{67FC2F5D-A00A-4392-B28E-0201BF8C74BB}" type="slidenum">
              <a:rPr lang="en-GB" smtClean="0"/>
              <a:t>8</a:t>
            </a:fld>
            <a:endParaRPr lang="en-GB"/>
          </a:p>
        </p:txBody>
      </p:sp>
    </p:spTree>
    <p:extLst>
      <p:ext uri="{BB962C8B-B14F-4D97-AF65-F5344CB8AC3E}">
        <p14:creationId xmlns:p14="http://schemas.microsoft.com/office/powerpoint/2010/main" val="7045440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2F022-8B42-F602-D76C-5D9AF63AE9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E6D740-8879-79E8-828B-11C780D76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36B1DA-0059-CADD-501F-1ECF2A6F8F1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1A67D41-D644-2540-94CA-13D583532B74}"/>
              </a:ext>
            </a:extLst>
          </p:cNvPr>
          <p:cNvSpPr>
            <a:spLocks noGrp="1"/>
          </p:cNvSpPr>
          <p:nvPr>
            <p:ph type="sldNum" sz="quarter" idx="5"/>
          </p:nvPr>
        </p:nvSpPr>
        <p:spPr/>
        <p:txBody>
          <a:bodyPr/>
          <a:lstStyle/>
          <a:p>
            <a:fld id="{67FC2F5D-A00A-4392-B28E-0201BF8C74BB}" type="slidenum">
              <a:rPr lang="en-GB" smtClean="0"/>
              <a:t>9</a:t>
            </a:fld>
            <a:endParaRPr lang="en-GB"/>
          </a:p>
        </p:txBody>
      </p:sp>
    </p:spTree>
    <p:extLst>
      <p:ext uri="{BB962C8B-B14F-4D97-AF65-F5344CB8AC3E}">
        <p14:creationId xmlns:p14="http://schemas.microsoft.com/office/powerpoint/2010/main" val="28679273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7C883-85BB-FD85-41AB-370F2EF19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FC8894-5CEC-DC3C-6EFF-5A82B5300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625EB-1156-1985-02FA-320B5C40A8E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2E9FDA2-B50C-F900-D33B-FCB246DF5FFA}"/>
              </a:ext>
            </a:extLst>
          </p:cNvPr>
          <p:cNvSpPr>
            <a:spLocks noGrp="1"/>
          </p:cNvSpPr>
          <p:nvPr>
            <p:ph type="sldNum" sz="quarter" idx="5"/>
          </p:nvPr>
        </p:nvSpPr>
        <p:spPr/>
        <p:txBody>
          <a:bodyPr/>
          <a:lstStyle/>
          <a:p>
            <a:fld id="{67FC2F5D-A00A-4392-B28E-0201BF8C74BB}" type="slidenum">
              <a:rPr lang="en-GB" smtClean="0"/>
              <a:t>10</a:t>
            </a:fld>
            <a:endParaRPr lang="en-GB"/>
          </a:p>
        </p:txBody>
      </p:sp>
    </p:spTree>
    <p:extLst>
      <p:ext uri="{BB962C8B-B14F-4D97-AF65-F5344CB8AC3E}">
        <p14:creationId xmlns:p14="http://schemas.microsoft.com/office/powerpoint/2010/main" val="3823072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548C011-A674-0907-5A0F-4389480455F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98A14D4-5494-7458-0C3D-0EA614F8B4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45F5ACB5-8FF3-7BAF-2DB6-FA4C4555C65F}"/>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AFD0FB8C-EBEF-D099-2B47-E95A7F974618}"/>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C83E35D-E01F-04ED-67A2-CF87D0659105}"/>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469943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8CC3C4-F730-5D30-F212-06F7290B79D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93A797F-034C-F784-AEAF-FF9B68066FD6}"/>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A5A6262-345C-37AA-60A3-DD92929F57C6}"/>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370CDF4B-4416-8755-43F9-FC15BFB7D6A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6BFCE24-5969-2BE0-9D86-74A3DEB03B6B}"/>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086313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61E5AB-1152-3C12-A7C7-1BFFF7F50094}"/>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EABB6EBB-2283-297F-4D80-8BB3E2E302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B1613F1B-A36B-1AF8-A670-1B35C7EF8841}"/>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85E8028C-5154-DDF3-455B-5D24F07322F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BC42305-39B7-109E-DA5E-0BBC12B2B8E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911718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3760A0-0423-1177-7F26-9466097DBC51}"/>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4070433F-CB4E-1FFE-5D17-E42B7D7A153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7FCF630-0521-4BBD-2E2B-B4135FD2DC3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48AB2E0-EE29-F02B-F1D5-A7A666437B15}"/>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0B5B0D75-D4F5-B15B-0EF6-EFD9FF93F6C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360740D-8C10-3ED6-2462-C385D2D23DD9}"/>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59030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6D2AD3-E744-1A3A-C441-B8353C9F9269}"/>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1488EBFB-782C-E230-4A1E-B2F3116334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C6377CEF-A1B5-DBFF-181A-00DC46C00CE0}"/>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9ADF585B-321C-204E-A8B1-B3B098DBA1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0B90C39-7680-BD53-3804-D5CE5AA9EF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4572FDA1-5660-B82C-4B3F-2C9CD773D820}"/>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8" name="Fußzeilenplatzhalter 7">
            <a:extLst>
              <a:ext uri="{FF2B5EF4-FFF2-40B4-BE49-F238E27FC236}">
                <a16:creationId xmlns:a16="http://schemas.microsoft.com/office/drawing/2014/main" id="{937B6BF8-D2F6-0118-7C56-57E9BDBF2433}"/>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CC6F15B6-C9F5-0CB7-233F-6C1A883821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305033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194E95-504F-9A08-5E0A-3893E0C891CE}"/>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51391B65-522D-3229-47FF-8CB5BDCA0E6E}"/>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4" name="Fußzeilenplatzhalter 3">
            <a:extLst>
              <a:ext uri="{FF2B5EF4-FFF2-40B4-BE49-F238E27FC236}">
                <a16:creationId xmlns:a16="http://schemas.microsoft.com/office/drawing/2014/main" id="{F58F7091-A2E0-26C2-95B1-32991A00F41D}"/>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D1F3C58-8F84-D8D4-DDBD-3988344B5A86}"/>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3015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4AF8A9A-B3B1-D106-BB70-4AB844B0CA9F}"/>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3" name="Fußzeilenplatzhalter 2">
            <a:extLst>
              <a:ext uri="{FF2B5EF4-FFF2-40B4-BE49-F238E27FC236}">
                <a16:creationId xmlns:a16="http://schemas.microsoft.com/office/drawing/2014/main" id="{79B2717D-F315-1D8B-B63C-CF6FFB07D53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2F0D478-12AC-2A77-F5B8-B671544D5FAE}"/>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621881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79D616-D058-C8AA-B1C5-68AEAB02407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400915E1-CE45-CAE0-CCC1-55DB34B6DF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C230DCA6-B52C-59CC-BCE7-D74655ABFE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970AD5D-EA55-28B3-5AF2-D13AC8979D7A}"/>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AC8D70CF-FBD6-6471-D7AF-BD62CEA6BAB5}"/>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C1C9E55-06EB-5135-7906-A3B52C7D31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556558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8FB4F40-3086-264B-B23E-93F922DAE679}"/>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83D9D64C-54BF-7F10-DA37-A2F801335D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0359C645-E130-1F5D-1F9C-635146D360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7012149-22B6-7D31-6E5F-AA9CC7AEB63D}"/>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6" name="Fußzeilenplatzhalter 5">
            <a:extLst>
              <a:ext uri="{FF2B5EF4-FFF2-40B4-BE49-F238E27FC236}">
                <a16:creationId xmlns:a16="http://schemas.microsoft.com/office/drawing/2014/main" id="{3B8C18DB-109D-3789-1181-71143455B38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05280A7-7583-1376-98F2-2244CF6BA5F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1888747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2682D2-EF4C-6220-91DF-A25B808B26C2}"/>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F9212E0C-10F3-AF24-E651-AD0D2C245787}"/>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06549BC-7F65-0A95-9B04-4520297ADFE0}"/>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B0C80375-2439-85F1-02AC-357CAFAEEA5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8FB48FE-1F1B-E53C-5529-2F97848322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242938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4F546A-96B3-6EF4-DA71-8E4C732B415D}"/>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2CE0CA43-DEE4-D9BB-352D-C73D05F5B7B1}"/>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60DFD8D-1C9A-A375-223D-78C46C1DB29B}"/>
              </a:ext>
            </a:extLst>
          </p:cNvPr>
          <p:cNvSpPr>
            <a:spLocks noGrp="1"/>
          </p:cNvSpPr>
          <p:nvPr>
            <p:ph type="dt" sz="half" idx="10"/>
          </p:nvPr>
        </p:nvSpPr>
        <p:spPr/>
        <p:txBody>
          <a:body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113B3037-0B41-08BA-1EB0-C206585F86C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60696BA0-D818-4A20-85E7-83AC6FFCBA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4145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8DEDE3A-4CA7-57C8-C2E8-0B7EAA23D3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B3A01489-FD35-1198-C22D-F8AF164EF1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94E6FFA-B481-6BD5-34A3-E043491D9B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F4B15-8AB2-4C86-B5C5-75A9D4FD84E4}" type="datetimeFigureOut">
              <a:rPr lang="de-DE" smtClean="0"/>
              <a:t>26.05.2026</a:t>
            </a:fld>
            <a:endParaRPr lang="de-DE"/>
          </a:p>
        </p:txBody>
      </p:sp>
      <p:sp>
        <p:nvSpPr>
          <p:cNvPr id="5" name="Fußzeilenplatzhalter 4">
            <a:extLst>
              <a:ext uri="{FF2B5EF4-FFF2-40B4-BE49-F238E27FC236}">
                <a16:creationId xmlns:a16="http://schemas.microsoft.com/office/drawing/2014/main" id="{31873554-4421-E709-CC23-10C100A718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CB641967-8CA8-0598-E299-848E9120E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77B1EE-E11C-4EC7-A74B-D7DD5378CF50}" type="slidenum">
              <a:rPr lang="de-DE" smtClean="0"/>
              <a:t>‹#›</a:t>
            </a:fld>
            <a:endParaRPr lang="de-DE"/>
          </a:p>
        </p:txBody>
      </p:sp>
    </p:spTree>
    <p:extLst>
      <p:ext uri="{BB962C8B-B14F-4D97-AF65-F5344CB8AC3E}">
        <p14:creationId xmlns:p14="http://schemas.microsoft.com/office/powerpoint/2010/main" val="2039982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9FB47B0-2F4D-CB4B-26E4-D53C5285D018}"/>
              </a:ext>
            </a:extLst>
          </p:cNvPr>
          <p:cNvSpPr>
            <a:spLocks noGrp="1"/>
          </p:cNvSpPr>
          <p:nvPr>
            <p:ph type="ctrTitle"/>
          </p:nvPr>
        </p:nvSpPr>
        <p:spPr>
          <a:xfrm>
            <a:off x="1127208" y="857251"/>
            <a:ext cx="4747280" cy="3098061"/>
          </a:xfrm>
        </p:spPr>
        <p:txBody>
          <a:bodyPr anchor="b">
            <a:normAutofit/>
          </a:bodyPr>
          <a:lstStyle/>
          <a:p>
            <a:pPr algn="l"/>
            <a:r>
              <a:rPr lang="en-US" sz="4800" b="1" dirty="0">
                <a:solidFill>
                  <a:schemeClr val="bg1"/>
                </a:solidFill>
              </a:rPr>
              <a:t>Voice-Controlled Maze Game</a:t>
            </a:r>
            <a:br>
              <a:rPr lang="en-US" sz="4800" b="1" dirty="0">
                <a:solidFill>
                  <a:schemeClr val="bg1"/>
                </a:solidFill>
              </a:rPr>
            </a:br>
            <a:r>
              <a:rPr lang="en-US" sz="2400" b="1" dirty="0">
                <a:solidFill>
                  <a:schemeClr val="bg1"/>
                </a:solidFill>
              </a:rPr>
              <a:t>SCBIO Final Project 2026</a:t>
            </a:r>
            <a:endParaRPr lang="en-GB" sz="2400" dirty="0">
              <a:solidFill>
                <a:schemeClr val="bg1"/>
              </a:solidFill>
            </a:endParaRP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D314810E-1A9E-0C2C-6135-74D6277F415F}"/>
              </a:ext>
            </a:extLst>
          </p:cNvPr>
          <p:cNvSpPr>
            <a:spLocks noGrp="1"/>
          </p:cNvSpPr>
          <p:nvPr>
            <p:ph type="subTitle" idx="1"/>
          </p:nvPr>
        </p:nvSpPr>
        <p:spPr>
          <a:xfrm>
            <a:off x="1127208" y="4355585"/>
            <a:ext cx="4393278" cy="1645163"/>
          </a:xfrm>
        </p:spPr>
        <p:txBody>
          <a:bodyPr vert="horz" lIns="91440" tIns="45720" rIns="91440" bIns="45720" rtlCol="0" anchor="t">
            <a:noAutofit/>
          </a:bodyPr>
          <a:lstStyle/>
          <a:p>
            <a:pPr algn="l"/>
            <a:r>
              <a:rPr lang="en-GB" sz="1400" dirty="0">
                <a:solidFill>
                  <a:srgbClr val="FFFFFF"/>
                </a:solidFill>
              </a:rPr>
              <a:t>Kewan </a:t>
            </a:r>
            <a:r>
              <a:rPr lang="en-GB" sz="1400" dirty="0" err="1">
                <a:solidFill>
                  <a:srgbClr val="FFFFFF"/>
                </a:solidFill>
              </a:rPr>
              <a:t>Marboeuf</a:t>
            </a:r>
            <a:endParaRPr lang="en-GB" sz="1400" dirty="0">
              <a:solidFill>
                <a:srgbClr val="FFFFFF"/>
              </a:solidFill>
            </a:endParaRPr>
          </a:p>
          <a:p>
            <a:pPr algn="l"/>
            <a:r>
              <a:rPr lang="en-GB" sz="1400" dirty="0">
                <a:solidFill>
                  <a:srgbClr val="FFFFFF"/>
                </a:solidFill>
              </a:rPr>
              <a:t>Michael Vogt</a:t>
            </a:r>
          </a:p>
          <a:p>
            <a:pPr algn="l"/>
            <a:r>
              <a:rPr lang="en-GB" sz="1400" dirty="0">
                <a:solidFill>
                  <a:srgbClr val="FFFFFF"/>
                </a:solidFill>
              </a:rPr>
              <a:t>Tizian </a:t>
            </a:r>
            <a:r>
              <a:rPr lang="en-GB" sz="1400" dirty="0" err="1">
                <a:solidFill>
                  <a:srgbClr val="FFFFFF"/>
                </a:solidFill>
              </a:rPr>
              <a:t>Quinque</a:t>
            </a:r>
            <a:endParaRPr lang="en-GB" sz="1400" dirty="0">
              <a:solidFill>
                <a:srgbClr val="FFFFFF"/>
              </a:solidFill>
            </a:endParaRPr>
          </a:p>
          <a:p>
            <a:pPr algn="l"/>
            <a:r>
              <a:rPr lang="en-GB" sz="1400" dirty="0">
                <a:solidFill>
                  <a:srgbClr val="FFFFFF"/>
                </a:solidFill>
              </a:rPr>
              <a:t>Luca Delli Castelli</a:t>
            </a:r>
          </a:p>
          <a:p>
            <a:pPr algn="l"/>
            <a:endParaRPr lang="en-GB" sz="1400" dirty="0">
              <a:solidFill>
                <a:srgbClr val="FFFFFF"/>
              </a:solidFill>
            </a:endParaRPr>
          </a:p>
          <a:p>
            <a:pPr algn="l"/>
            <a:r>
              <a:rPr lang="en-GB" sz="1400" dirty="0">
                <a:solidFill>
                  <a:srgbClr val="FFFFFF"/>
                </a:solidFill>
                <a:ea typeface="+mn-lt"/>
                <a:cs typeface="+mn-lt"/>
              </a:rPr>
              <a:t>Sistemas </a:t>
            </a:r>
            <a:r>
              <a:rPr lang="en-GB" sz="1400" dirty="0" err="1">
                <a:solidFill>
                  <a:srgbClr val="FFFFFF"/>
                </a:solidFill>
                <a:ea typeface="+mn-lt"/>
                <a:cs typeface="+mn-lt"/>
              </a:rPr>
              <a:t>Complexos</a:t>
            </a:r>
            <a:r>
              <a:rPr lang="en-GB" sz="1400" dirty="0">
                <a:solidFill>
                  <a:srgbClr val="FFFFFF"/>
                </a:solidFill>
                <a:ea typeface="+mn-lt"/>
                <a:cs typeface="+mn-lt"/>
              </a:rPr>
              <a:t> </a:t>
            </a:r>
            <a:r>
              <a:rPr lang="en-GB" sz="1400" dirty="0" err="1">
                <a:solidFill>
                  <a:srgbClr val="FFFFFF"/>
                </a:solidFill>
                <a:ea typeface="+mn-lt"/>
                <a:cs typeface="+mn-lt"/>
              </a:rPr>
              <a:t>Bioinspirados</a:t>
            </a:r>
            <a:r>
              <a:rPr lang="en-GB" sz="1400" dirty="0">
                <a:solidFill>
                  <a:srgbClr val="FFFFFF"/>
                </a:solidFill>
                <a:ea typeface="+mn-lt"/>
                <a:cs typeface="+mn-lt"/>
              </a:rPr>
              <a:t> (SCIBIO)</a:t>
            </a:r>
          </a:p>
          <a:p>
            <a:pPr algn="l"/>
            <a:r>
              <a:rPr lang="en-GB" sz="1400" dirty="0">
                <a:solidFill>
                  <a:srgbClr val="FFFFFF"/>
                </a:solidFill>
                <a:ea typeface="+mn-lt"/>
                <a:cs typeface="+mn-lt"/>
              </a:rPr>
              <a:t>Lecturer: Fernando Escobar Ropero</a:t>
            </a:r>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B830067-0DC3-6A75-3F15-3A30ADCC8D3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777468"/>
            <a:ext cx="3737164" cy="13173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67590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9" name="Rectangle 2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Freeform: Shape 3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Rectangle 3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D7F146-BBFE-BAAD-B8EF-92A6A3A48B5F}"/>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O</a:t>
            </a:r>
            <a:r>
              <a:rPr lang="en-US" sz="4000" kern="1200" dirty="0">
                <a:solidFill>
                  <a:srgbClr val="FFFFFF"/>
                </a:solidFill>
                <a:latin typeface="+mj-lt"/>
                <a:ea typeface="+mj-ea"/>
                <a:cs typeface="+mj-cs"/>
              </a:rPr>
              <a:t>utline</a:t>
            </a:r>
          </a:p>
        </p:txBody>
      </p:sp>
      <p:sp>
        <p:nvSpPr>
          <p:cNvPr id="7" name="Rectangle 4">
            <a:extLst>
              <a:ext uri="{FF2B5EF4-FFF2-40B4-BE49-F238E27FC236}">
                <a16:creationId xmlns:a16="http://schemas.microsoft.com/office/drawing/2014/main" id="{CA100D25-9D52-D420-8AAC-FE9937270484}"/>
              </a:ext>
            </a:extLst>
          </p:cNvPr>
          <p:cNvSpPr>
            <a:spLocks noChangeArrowheads="1"/>
          </p:cNvSpPr>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228600" marR="0" lvl="0" indent="-457200" fontAlgn="base">
              <a:lnSpc>
                <a:spcPct val="90000"/>
              </a:lnSpc>
              <a:spcBef>
                <a:spcPct val="0"/>
              </a:spcBef>
              <a:spcAft>
                <a:spcPts val="600"/>
              </a:spcAft>
              <a:buClrTx/>
              <a:buSzTx/>
              <a:buFont typeface="+mj-lt"/>
              <a:buAutoNum type="arabicPeriod"/>
              <a:tabLst/>
            </a:pPr>
            <a:r>
              <a:rPr lang="en-US" altLang="en-US" sz="2200" dirty="0"/>
              <a:t>Motivation</a:t>
            </a:r>
          </a:p>
          <a:p>
            <a:pPr marL="228600" indent="-457200" fontAlgn="base">
              <a:lnSpc>
                <a:spcPct val="90000"/>
              </a:lnSpc>
              <a:spcBef>
                <a:spcPct val="0"/>
              </a:spcBef>
              <a:spcAft>
                <a:spcPts val="600"/>
              </a:spcAft>
              <a:buFont typeface="+mj-lt"/>
              <a:buAutoNum type="arabicPeriod"/>
            </a:pPr>
            <a:r>
              <a:rPr lang="en-US" altLang="en-US" sz="2200" dirty="0"/>
              <a:t>Task Division</a:t>
            </a:r>
            <a:endParaRPr kumimoji="0" lang="en-US" altLang="en-US" sz="2200" b="0" i="0" u="none" strike="noStrike" cap="none" normalizeH="0" baseline="0" dirty="0">
              <a:ln>
                <a:noFill/>
              </a:ln>
              <a:effectLst/>
            </a:endParaRPr>
          </a:p>
          <a:p>
            <a:pPr marL="228600" marR="0" lvl="0" indent="-457200" fontAlgn="base">
              <a:lnSpc>
                <a:spcPct val="90000"/>
              </a:lnSpc>
              <a:spcBef>
                <a:spcPct val="0"/>
              </a:spcBef>
              <a:spcAft>
                <a:spcPts val="600"/>
              </a:spcAft>
              <a:buClrTx/>
              <a:buSzTx/>
              <a:buFont typeface="+mj-lt"/>
              <a:buAutoNum type="arabicPeriod"/>
              <a:tabLst/>
            </a:pPr>
            <a:r>
              <a:rPr lang="en-US" altLang="en-US" sz="2200" dirty="0"/>
              <a:t>Introduction to </a:t>
            </a:r>
            <a:r>
              <a:rPr lang="en-US" altLang="en-US" sz="2200" dirty="0" err="1"/>
              <a:t>Vosk</a:t>
            </a:r>
            <a:r>
              <a:rPr lang="en-US" altLang="en-US" sz="2200" dirty="0"/>
              <a:t> Speech Recognition</a:t>
            </a:r>
            <a:endParaRPr kumimoji="0" lang="en-US" altLang="en-US" sz="2200" b="0" i="0" u="none" strike="noStrike" cap="none" normalizeH="0" baseline="0" dirty="0">
              <a:ln>
                <a:noFill/>
              </a:ln>
              <a:effectLst/>
            </a:endParaRPr>
          </a:p>
          <a:p>
            <a:pPr marL="228600" marR="0" lvl="0" indent="-457200" fontAlgn="base">
              <a:lnSpc>
                <a:spcPct val="90000"/>
              </a:lnSpc>
              <a:spcBef>
                <a:spcPct val="0"/>
              </a:spcBef>
              <a:spcAft>
                <a:spcPts val="600"/>
              </a:spcAft>
              <a:buClrTx/>
              <a:buSzTx/>
              <a:buFont typeface="+mj-lt"/>
              <a:buAutoNum type="arabicPeriod"/>
              <a:tabLst/>
            </a:pPr>
            <a:r>
              <a:rPr kumimoji="0" lang="en-US" altLang="en-US" sz="2200" b="0" i="0" u="none" strike="noStrike" cap="none" normalizeH="0" baseline="0" dirty="0">
                <a:ln>
                  <a:noFill/>
                </a:ln>
                <a:effectLst/>
              </a:rPr>
              <a:t>Code I</a:t>
            </a:r>
            <a:r>
              <a:rPr lang="en-US" altLang="en-US" sz="2200" dirty="0"/>
              <a:t>mplementation</a:t>
            </a:r>
          </a:p>
          <a:p>
            <a:pPr marL="685800" lvl="1" indent="-457200" fontAlgn="base">
              <a:lnSpc>
                <a:spcPct val="90000"/>
              </a:lnSpc>
              <a:spcBef>
                <a:spcPct val="0"/>
              </a:spcBef>
              <a:spcAft>
                <a:spcPts val="600"/>
              </a:spcAft>
              <a:buFont typeface="+mj-lt"/>
              <a:buAutoNum type="arabicPeriod"/>
            </a:pPr>
            <a:r>
              <a:rPr kumimoji="0" lang="en-US" altLang="en-US" sz="2200" b="0" i="0" u="none" strike="noStrike" cap="none" normalizeH="0" baseline="0" dirty="0">
                <a:ln>
                  <a:noFill/>
                </a:ln>
                <a:effectLst/>
              </a:rPr>
              <a:t>Voice Control</a:t>
            </a:r>
          </a:p>
          <a:p>
            <a:pPr marL="685800" lvl="1" indent="-457200" fontAlgn="base">
              <a:lnSpc>
                <a:spcPct val="90000"/>
              </a:lnSpc>
              <a:spcBef>
                <a:spcPct val="0"/>
              </a:spcBef>
              <a:spcAft>
                <a:spcPts val="600"/>
              </a:spcAft>
              <a:buFont typeface="+mj-lt"/>
              <a:buAutoNum type="arabicPeriod"/>
            </a:pPr>
            <a:r>
              <a:rPr lang="en-US" altLang="en-US" sz="2200" dirty="0"/>
              <a:t>Game Integration</a:t>
            </a:r>
            <a:endParaRPr kumimoji="0" lang="en-US" altLang="en-US" sz="2200" b="0" i="0" u="none" strike="noStrike" cap="none" normalizeH="0" baseline="0" dirty="0">
              <a:ln>
                <a:noFill/>
              </a:ln>
              <a:effectLst/>
            </a:endParaRPr>
          </a:p>
          <a:p>
            <a:pPr marL="228600" marR="0" lvl="0" indent="-457200" fontAlgn="base">
              <a:lnSpc>
                <a:spcPct val="90000"/>
              </a:lnSpc>
              <a:spcBef>
                <a:spcPct val="0"/>
              </a:spcBef>
              <a:spcAft>
                <a:spcPts val="600"/>
              </a:spcAft>
              <a:buClrTx/>
              <a:buSzTx/>
              <a:buFont typeface="+mj-lt"/>
              <a:buAutoNum type="arabicPeriod"/>
              <a:tabLst/>
            </a:pPr>
            <a:r>
              <a:rPr kumimoji="0" lang="en-US" altLang="en-US" sz="2200" b="0" i="0" u="none" strike="noStrike" cap="none" normalizeH="0" baseline="0" dirty="0">
                <a:ln>
                  <a:noFill/>
                </a:ln>
                <a:effectLst/>
              </a:rPr>
              <a:t>Demonstration</a:t>
            </a:r>
          </a:p>
          <a:p>
            <a:pPr marL="228600" marR="0" lvl="0" indent="-457200" fontAlgn="base">
              <a:lnSpc>
                <a:spcPct val="90000"/>
              </a:lnSpc>
              <a:spcBef>
                <a:spcPct val="0"/>
              </a:spcBef>
              <a:spcAft>
                <a:spcPts val="600"/>
              </a:spcAft>
              <a:buClrTx/>
              <a:buSzTx/>
              <a:buFont typeface="+mj-lt"/>
              <a:buAutoNum type="arabicPeriod"/>
              <a:tabLst/>
            </a:pPr>
            <a:r>
              <a:rPr kumimoji="0" lang="en-US" altLang="en-US" sz="2200" b="0" i="0" u="none" strike="noStrike" cap="none" normalizeH="0" baseline="0" dirty="0">
                <a:ln>
                  <a:noFill/>
                </a:ln>
                <a:effectLst/>
              </a:rPr>
              <a:t>Conclusion</a:t>
            </a:r>
          </a:p>
          <a:p>
            <a:pPr marL="0" marR="0" lvl="0" indent="-228600" fontAlgn="base">
              <a:lnSpc>
                <a:spcPct val="90000"/>
              </a:lnSpc>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082935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25674D-14FD-CBE9-3522-64BE1368DD7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09E2AC7-479C-8480-B46C-2569FFF09A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A9D3E5D-BD93-A020-AE13-E6C96A5D41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ED978B-F479-8A93-5FCD-217AD3988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1D728CF-92A9-B780-E581-41ADB7820A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75674F-B793-B1A6-E399-D1F18FC9381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Motivation</a:t>
            </a:r>
          </a:p>
        </p:txBody>
      </p:sp>
      <p:sp>
        <p:nvSpPr>
          <p:cNvPr id="5" name="Inhaltsplatzhalter 2">
            <a:extLst>
              <a:ext uri="{FF2B5EF4-FFF2-40B4-BE49-F238E27FC236}">
                <a16:creationId xmlns:a16="http://schemas.microsoft.com/office/drawing/2014/main" id="{3B5BD181-EB80-567C-1F9C-0FDB3E91DEFD}"/>
              </a:ext>
            </a:extLst>
          </p:cNvPr>
          <p:cNvSpPr>
            <a:spLocks noGrp="1"/>
          </p:cNvSpPr>
          <p:nvPr>
            <p:ph idx="1"/>
          </p:nvPr>
        </p:nvSpPr>
        <p:spPr>
          <a:xfrm>
            <a:off x="838200" y="1825625"/>
            <a:ext cx="10515600" cy="4351338"/>
          </a:xfrm>
        </p:spPr>
        <p:txBody>
          <a:bodyPr>
            <a:normAutofit fontScale="85000" lnSpcReduction="20000"/>
          </a:bodyPr>
          <a:lstStyle/>
          <a:p>
            <a:pPr marL="0" indent="0">
              <a:buNone/>
            </a:pPr>
            <a:r>
              <a:rPr lang="en-US" b="1" dirty="0"/>
              <a:t>Why voice control?</a:t>
            </a:r>
          </a:p>
          <a:p>
            <a:r>
              <a:rPr lang="en-US" dirty="0"/>
              <a:t>Human-computer interaction </a:t>
            </a:r>
          </a:p>
          <a:p>
            <a:r>
              <a:rPr lang="en-US" dirty="0"/>
              <a:t>Lightweight alternative to vision systems </a:t>
            </a:r>
          </a:p>
          <a:p>
            <a:r>
              <a:rPr lang="en-US" dirty="0"/>
              <a:t>No large training dataset required</a:t>
            </a:r>
          </a:p>
          <a:p>
            <a:endParaRPr lang="de-DE" dirty="0"/>
          </a:p>
          <a:p>
            <a:pPr marL="0" indent="0">
              <a:buNone/>
            </a:pPr>
            <a:r>
              <a:rPr lang="en-US" b="1" dirty="0"/>
              <a:t>Project Goal</a:t>
            </a:r>
            <a:endParaRPr lang="de-DE" dirty="0"/>
          </a:p>
          <a:p>
            <a:r>
              <a:rPr lang="en-GB" dirty="0"/>
              <a:t>Maze game controlled by voice </a:t>
            </a:r>
          </a:p>
          <a:p>
            <a:r>
              <a:rPr lang="en-GB" dirty="0"/>
              <a:t>Combination of: </a:t>
            </a:r>
          </a:p>
          <a:p>
            <a:pPr lvl="1"/>
            <a:r>
              <a:rPr lang="en-GB" dirty="0"/>
              <a:t>Speech Recognition </a:t>
            </a:r>
          </a:p>
          <a:p>
            <a:pPr lvl="1"/>
            <a:r>
              <a:rPr lang="en-GB" dirty="0"/>
              <a:t>Game Development </a:t>
            </a:r>
          </a:p>
          <a:p>
            <a:pPr lvl="1"/>
            <a:r>
              <a:rPr lang="en-GB" dirty="0"/>
              <a:t>Real-time interaction</a:t>
            </a:r>
          </a:p>
          <a:p>
            <a:pPr marL="0" indent="0">
              <a:buNone/>
            </a:pPr>
            <a:r>
              <a:rPr lang="en-GB" dirty="0">
                <a:sym typeface="Wingdings" panose="05000000000000000000" pitchFamily="2" charset="2"/>
              </a:rPr>
              <a:t> </a:t>
            </a:r>
            <a:r>
              <a:rPr lang="de-DE" dirty="0" err="1"/>
              <a:t>Recognize</a:t>
            </a:r>
            <a:r>
              <a:rPr lang="de-DE" dirty="0"/>
              <a:t>: </a:t>
            </a:r>
            <a:r>
              <a:rPr lang="en-US" dirty="0"/>
              <a:t> “up”, “down”, “left”, “right”, “exit”</a:t>
            </a:r>
            <a:endParaRPr lang="en-GB" dirty="0"/>
          </a:p>
          <a:p>
            <a:endParaRPr lang="de-DE" dirty="0"/>
          </a:p>
        </p:txBody>
      </p:sp>
      <p:pic>
        <p:nvPicPr>
          <p:cNvPr id="6" name="Picture 5">
            <a:extLst>
              <a:ext uri="{FF2B5EF4-FFF2-40B4-BE49-F238E27FC236}">
                <a16:creationId xmlns:a16="http://schemas.microsoft.com/office/drawing/2014/main" id="{049E8492-5CDC-DE2C-BCB3-96A39B5A4C10}"/>
              </a:ext>
            </a:extLst>
          </p:cNvPr>
          <p:cNvPicPr>
            <a:picLocks noChangeAspect="1"/>
          </p:cNvPicPr>
          <p:nvPr/>
        </p:nvPicPr>
        <p:blipFill>
          <a:blip r:embed="rId3"/>
          <a:srcRect t="2536"/>
          <a:stretch>
            <a:fillRect/>
          </a:stretch>
        </p:blipFill>
        <p:spPr>
          <a:xfrm>
            <a:off x="7354237" y="1986746"/>
            <a:ext cx="4418663" cy="4439886"/>
          </a:xfrm>
          <a:prstGeom prst="rect">
            <a:avLst/>
          </a:prstGeom>
        </p:spPr>
      </p:pic>
    </p:spTree>
    <p:extLst>
      <p:ext uri="{BB962C8B-B14F-4D97-AF65-F5344CB8AC3E}">
        <p14:creationId xmlns:p14="http://schemas.microsoft.com/office/powerpoint/2010/main" val="11072553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BBF159-B88D-E44E-5C4C-BC33F2B68457}"/>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6263DD31-7F3C-B8A1-0F9A-98A28A7093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266348B-8C87-D245-6D41-8F7DAF80C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F8D637E-767C-8A9F-8F3B-7C19FE08B3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E24AC30-503F-A2D1-CEC0-BD3758EC6A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CAD4C1-6753-F759-DD75-479FF4F60CC4}"/>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Task Division</a:t>
            </a:r>
            <a:endParaRPr lang="en-US" sz="4000" kern="1200" dirty="0">
              <a:solidFill>
                <a:srgbClr val="FFFFFF"/>
              </a:solidFill>
              <a:latin typeface="+mj-lt"/>
              <a:ea typeface="+mj-ea"/>
              <a:cs typeface="+mj-cs"/>
            </a:endParaRPr>
          </a:p>
        </p:txBody>
      </p:sp>
      <p:pic>
        <p:nvPicPr>
          <p:cNvPr id="20" name="Picture 19">
            <a:extLst>
              <a:ext uri="{FF2B5EF4-FFF2-40B4-BE49-F238E27FC236}">
                <a16:creationId xmlns:a16="http://schemas.microsoft.com/office/drawing/2014/main" id="{378D12C9-D162-64ED-37AD-5B00D664774F}"/>
              </a:ext>
            </a:extLst>
          </p:cNvPr>
          <p:cNvPicPr>
            <a:picLocks noChangeAspect="1"/>
          </p:cNvPicPr>
          <p:nvPr/>
        </p:nvPicPr>
        <p:blipFill>
          <a:blip r:embed="rId3"/>
          <a:stretch>
            <a:fillRect/>
          </a:stretch>
        </p:blipFill>
        <p:spPr>
          <a:xfrm>
            <a:off x="3283531" y="1655276"/>
            <a:ext cx="5624933" cy="4873759"/>
          </a:xfrm>
          <a:prstGeom prst="rect">
            <a:avLst/>
          </a:prstGeom>
        </p:spPr>
      </p:pic>
    </p:spTree>
    <p:extLst>
      <p:ext uri="{BB962C8B-B14F-4D97-AF65-F5344CB8AC3E}">
        <p14:creationId xmlns:p14="http://schemas.microsoft.com/office/powerpoint/2010/main" val="24123599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C43200-F066-9A23-D854-DB860B26BAC5}"/>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Intoduction to Vosk</a:t>
            </a:r>
          </a:p>
        </p:txBody>
      </p:sp>
      <p:pic>
        <p:nvPicPr>
          <p:cNvPr id="8" name="Picture 7">
            <a:extLst>
              <a:ext uri="{FF2B5EF4-FFF2-40B4-BE49-F238E27FC236}">
                <a16:creationId xmlns:a16="http://schemas.microsoft.com/office/drawing/2014/main" id="{1B48D639-FD8A-0FDE-188F-EECB87DEF95B}"/>
              </a:ext>
            </a:extLst>
          </p:cNvPr>
          <p:cNvPicPr>
            <a:picLocks noChangeAspect="1"/>
          </p:cNvPicPr>
          <p:nvPr/>
        </p:nvPicPr>
        <p:blipFill>
          <a:blip r:embed="rId3"/>
          <a:stretch>
            <a:fillRect/>
          </a:stretch>
        </p:blipFill>
        <p:spPr>
          <a:xfrm>
            <a:off x="981823" y="1645707"/>
            <a:ext cx="10228350" cy="5139745"/>
          </a:xfrm>
          <a:prstGeom prst="rect">
            <a:avLst/>
          </a:prstGeom>
        </p:spPr>
      </p:pic>
    </p:spTree>
    <p:extLst>
      <p:ext uri="{BB962C8B-B14F-4D97-AF65-F5344CB8AC3E}">
        <p14:creationId xmlns:p14="http://schemas.microsoft.com/office/powerpoint/2010/main" val="2968610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56D4CB-8D72-EA34-77AB-824233AF875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D0EDDDC-0FAD-4229-A2BF-E00B79D55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E2916D6-8B87-2854-3944-1A2051FF92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4BB8EAD-00B0-CED7-D46B-AA505A22B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BEA9C0D-0CFE-D0B1-9B50-A6F460CEE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70697B-8D98-ADBA-4AF4-112D9BEF6834}"/>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Implementation of Voice Control</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A8A93CD5-2767-92E3-8B6B-2A03214C2653}"/>
              </a:ext>
            </a:extLst>
          </p:cNvPr>
          <p:cNvSpPr>
            <a:spLocks noGrp="1"/>
          </p:cNvSpPr>
          <p:nvPr>
            <p:ph idx="1"/>
          </p:nvPr>
        </p:nvSpPr>
        <p:spPr>
          <a:xfrm>
            <a:off x="838200" y="1825625"/>
            <a:ext cx="10515600" cy="4351338"/>
          </a:xfrm>
        </p:spPr>
        <p:txBody>
          <a:bodyPr/>
          <a:lstStyle/>
          <a:p>
            <a:r>
              <a:rPr lang="en-GB" dirty="0"/>
              <a:t>Why did we choose </a:t>
            </a:r>
            <a:r>
              <a:rPr lang="en-GB" dirty="0" err="1"/>
              <a:t>Vosk</a:t>
            </a:r>
            <a:r>
              <a:rPr lang="en-GB" dirty="0"/>
              <a:t>?</a:t>
            </a:r>
          </a:p>
          <a:p>
            <a:pPr lvl="1"/>
            <a:r>
              <a:rPr lang="en-GB" dirty="0"/>
              <a:t>Pretrained model </a:t>
            </a:r>
            <a:r>
              <a:rPr lang="en-GB" dirty="0">
                <a:sym typeface="Wingdings" panose="05000000000000000000" pitchFamily="2" charset="2"/>
              </a:rPr>
              <a:t> Transfer Learning</a:t>
            </a:r>
            <a:endParaRPr lang="en-GB" dirty="0"/>
          </a:p>
          <a:p>
            <a:pPr lvl="1"/>
            <a:r>
              <a:rPr lang="en-GB" dirty="0"/>
              <a:t>Real-time speech recognition </a:t>
            </a:r>
          </a:p>
          <a:p>
            <a:pPr lvl="1"/>
            <a:r>
              <a:rPr lang="en-GB" dirty="0"/>
              <a:t>Works offline</a:t>
            </a:r>
          </a:p>
          <a:p>
            <a:pPr lvl="1"/>
            <a:endParaRPr lang="en-GB" dirty="0"/>
          </a:p>
          <a:p>
            <a:r>
              <a:rPr lang="en-GB" dirty="0"/>
              <a:t>WER of 9,85 – 10,38, BUT Accuracy depends on: </a:t>
            </a:r>
          </a:p>
          <a:p>
            <a:pPr lvl="1"/>
            <a:r>
              <a:rPr lang="en-GB" dirty="0"/>
              <a:t>Microphone quality </a:t>
            </a:r>
          </a:p>
          <a:p>
            <a:pPr lvl="1"/>
            <a:r>
              <a:rPr lang="en-GB" dirty="0"/>
              <a:t>Background noise </a:t>
            </a:r>
          </a:p>
          <a:p>
            <a:pPr lvl="1"/>
            <a:r>
              <a:rPr lang="en-GB" dirty="0"/>
              <a:t>Pronunciation / accent </a:t>
            </a:r>
          </a:p>
          <a:p>
            <a:pPr lvl="1"/>
            <a:endParaRPr lang="en-GB" dirty="0"/>
          </a:p>
          <a:p>
            <a:endParaRPr lang="en-GB" dirty="0"/>
          </a:p>
        </p:txBody>
      </p:sp>
      <p:pic>
        <p:nvPicPr>
          <p:cNvPr id="4" name="Picture 3">
            <a:extLst>
              <a:ext uri="{FF2B5EF4-FFF2-40B4-BE49-F238E27FC236}">
                <a16:creationId xmlns:a16="http://schemas.microsoft.com/office/drawing/2014/main" id="{48F50F23-5026-C56B-983A-5B3D42C6E679}"/>
              </a:ext>
            </a:extLst>
          </p:cNvPr>
          <p:cNvPicPr>
            <a:picLocks noChangeAspect="1"/>
          </p:cNvPicPr>
          <p:nvPr/>
        </p:nvPicPr>
        <p:blipFill>
          <a:blip r:embed="rId3"/>
          <a:stretch>
            <a:fillRect/>
          </a:stretch>
        </p:blipFill>
        <p:spPr>
          <a:xfrm>
            <a:off x="6148754" y="4753862"/>
            <a:ext cx="5205046" cy="1739013"/>
          </a:xfrm>
          <a:prstGeom prst="rect">
            <a:avLst/>
          </a:prstGeom>
        </p:spPr>
      </p:pic>
      <p:pic>
        <p:nvPicPr>
          <p:cNvPr id="5" name="Picture 4">
            <a:extLst>
              <a:ext uri="{FF2B5EF4-FFF2-40B4-BE49-F238E27FC236}">
                <a16:creationId xmlns:a16="http://schemas.microsoft.com/office/drawing/2014/main" id="{B0EA5C4F-F630-57F3-9FA6-25CE106F9F9E}"/>
              </a:ext>
            </a:extLst>
          </p:cNvPr>
          <p:cNvPicPr>
            <a:picLocks noChangeAspect="1"/>
          </p:cNvPicPr>
          <p:nvPr/>
        </p:nvPicPr>
        <p:blipFill>
          <a:blip r:embed="rId4"/>
          <a:stretch>
            <a:fillRect/>
          </a:stretch>
        </p:blipFill>
        <p:spPr>
          <a:xfrm>
            <a:off x="8981744" y="2732712"/>
            <a:ext cx="2372056" cy="1886213"/>
          </a:xfrm>
          <a:prstGeom prst="rect">
            <a:avLst/>
          </a:prstGeom>
        </p:spPr>
      </p:pic>
    </p:spTree>
    <p:extLst>
      <p:ext uri="{BB962C8B-B14F-4D97-AF65-F5344CB8AC3E}">
        <p14:creationId xmlns:p14="http://schemas.microsoft.com/office/powerpoint/2010/main" val="3070597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34A122-7797-DA5A-B347-1451091C335E}"/>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BF1F40FB-18AB-757F-52E2-A5D850BD4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32230C8-DA72-BBD1-07A1-06C4C3B720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B24B9B3-556D-0995-AB5A-1A5793ECA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EFE942F-C8E6-ABD6-610D-1CEB19DF5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C08299-A037-119E-EFFC-EE036847024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Game integration</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25DEF4F3-5AA0-C4A7-F9EA-33A485BF28C3}"/>
              </a:ext>
            </a:extLst>
          </p:cNvPr>
          <p:cNvSpPr>
            <a:spLocks noGrp="1"/>
          </p:cNvSpPr>
          <p:nvPr>
            <p:ph idx="1"/>
          </p:nvPr>
        </p:nvSpPr>
        <p:spPr>
          <a:xfrm>
            <a:off x="6047084" y="1899919"/>
            <a:ext cx="5623560" cy="1056641"/>
          </a:xfrm>
        </p:spPr>
        <p:txBody>
          <a:bodyPr>
            <a:normAutofit/>
          </a:bodyPr>
          <a:lstStyle/>
          <a:p>
            <a:r>
              <a:rPr lang="en-GB" dirty="0"/>
              <a:t>Recursive backtracking maze generation</a:t>
            </a:r>
          </a:p>
        </p:txBody>
      </p:sp>
      <p:pic>
        <p:nvPicPr>
          <p:cNvPr id="6" name="Picture 5">
            <a:extLst>
              <a:ext uri="{FF2B5EF4-FFF2-40B4-BE49-F238E27FC236}">
                <a16:creationId xmlns:a16="http://schemas.microsoft.com/office/drawing/2014/main" id="{075156BD-F60A-FF0C-227C-6D7E339C9026}"/>
              </a:ext>
            </a:extLst>
          </p:cNvPr>
          <p:cNvPicPr>
            <a:picLocks noChangeAspect="1"/>
          </p:cNvPicPr>
          <p:nvPr/>
        </p:nvPicPr>
        <p:blipFill>
          <a:blip r:embed="rId3"/>
          <a:srcRect t="2536"/>
          <a:stretch>
            <a:fillRect/>
          </a:stretch>
        </p:blipFill>
        <p:spPr>
          <a:xfrm>
            <a:off x="699713" y="1765887"/>
            <a:ext cx="4820920" cy="4844075"/>
          </a:xfrm>
          <a:prstGeom prst="rect">
            <a:avLst/>
          </a:prstGeom>
        </p:spPr>
      </p:pic>
      <p:sp>
        <p:nvSpPr>
          <p:cNvPr id="8" name="TextBox 7">
            <a:extLst>
              <a:ext uri="{FF2B5EF4-FFF2-40B4-BE49-F238E27FC236}">
                <a16:creationId xmlns:a16="http://schemas.microsoft.com/office/drawing/2014/main" id="{0C01C29D-DED3-AC37-489D-99100642E287}"/>
              </a:ext>
            </a:extLst>
          </p:cNvPr>
          <p:cNvSpPr txBox="1"/>
          <p:nvPr/>
        </p:nvSpPr>
        <p:spPr>
          <a:xfrm>
            <a:off x="6502400" y="2956560"/>
            <a:ext cx="4307840" cy="1200329"/>
          </a:xfrm>
          <a:prstGeom prst="rect">
            <a:avLst/>
          </a:prstGeom>
          <a:noFill/>
        </p:spPr>
        <p:txBody>
          <a:bodyPr wrap="square" rtlCol="0">
            <a:spAutoFit/>
          </a:bodyPr>
          <a:lstStyle/>
          <a:p>
            <a:r>
              <a:rPr lang="en-GB" dirty="0"/>
              <a:t>1- Initialize maze with walls everywhere </a:t>
            </a:r>
          </a:p>
          <a:p>
            <a:endParaRPr lang="en-GB" dirty="0"/>
          </a:p>
          <a:p>
            <a:r>
              <a:rPr lang="en-GB" dirty="0"/>
              <a:t>2- Do a depth first search while removing the walls between neighbours </a:t>
            </a:r>
          </a:p>
        </p:txBody>
      </p:sp>
    </p:spTree>
    <p:extLst>
      <p:ext uri="{BB962C8B-B14F-4D97-AF65-F5344CB8AC3E}">
        <p14:creationId xmlns:p14="http://schemas.microsoft.com/office/powerpoint/2010/main" val="125624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9956A7-46B4-9625-F3E4-A95F3590694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D474B9D-F108-890B-7F40-677FA49E9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F7C90E5-F183-A269-4E23-2DA300B261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5B3C5F7-A888-EB15-E4B6-F64EBF0A50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3F6812B-1151-3841-2C70-DFB38E78B2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91FCD4-D558-EC04-D133-F00AA2F7A2E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Game integration</a:t>
            </a:r>
            <a:endParaRPr lang="en-US" sz="4000" kern="1200" dirty="0">
              <a:solidFill>
                <a:schemeClr val="bg1"/>
              </a:solidFill>
              <a:latin typeface="+mj-lt"/>
              <a:ea typeface="+mj-ea"/>
              <a:cs typeface="+mj-cs"/>
            </a:endParaRPr>
          </a:p>
        </p:txBody>
      </p:sp>
      <p:pic>
        <p:nvPicPr>
          <p:cNvPr id="6" name="Picture 5">
            <a:extLst>
              <a:ext uri="{FF2B5EF4-FFF2-40B4-BE49-F238E27FC236}">
                <a16:creationId xmlns:a16="http://schemas.microsoft.com/office/drawing/2014/main" id="{27351AA0-1576-AF35-533F-93138789F743}"/>
              </a:ext>
            </a:extLst>
          </p:cNvPr>
          <p:cNvPicPr>
            <a:picLocks noChangeAspect="1"/>
          </p:cNvPicPr>
          <p:nvPr/>
        </p:nvPicPr>
        <p:blipFill>
          <a:blip r:embed="rId3"/>
          <a:srcRect t="2536"/>
          <a:stretch>
            <a:fillRect/>
          </a:stretch>
        </p:blipFill>
        <p:spPr>
          <a:xfrm>
            <a:off x="699713" y="1765887"/>
            <a:ext cx="4820920" cy="4844075"/>
          </a:xfrm>
          <a:prstGeom prst="rect">
            <a:avLst/>
          </a:prstGeom>
        </p:spPr>
      </p:pic>
      <p:pic>
        <p:nvPicPr>
          <p:cNvPr id="9" name="Picture 8">
            <a:extLst>
              <a:ext uri="{FF2B5EF4-FFF2-40B4-BE49-F238E27FC236}">
                <a16:creationId xmlns:a16="http://schemas.microsoft.com/office/drawing/2014/main" id="{B2C0A6C8-5D43-92EB-EA16-424655F4349C}"/>
              </a:ext>
            </a:extLst>
          </p:cNvPr>
          <p:cNvPicPr>
            <a:picLocks noChangeAspect="1"/>
          </p:cNvPicPr>
          <p:nvPr/>
        </p:nvPicPr>
        <p:blipFill>
          <a:blip r:embed="rId4"/>
          <a:stretch>
            <a:fillRect/>
          </a:stretch>
        </p:blipFill>
        <p:spPr>
          <a:xfrm>
            <a:off x="699713" y="1763082"/>
            <a:ext cx="4793253" cy="4787614"/>
          </a:xfrm>
          <a:prstGeom prst="rect">
            <a:avLst/>
          </a:prstGeom>
        </p:spPr>
      </p:pic>
      <p:grpSp>
        <p:nvGrpSpPr>
          <p:cNvPr id="26" name="Group 25">
            <a:extLst>
              <a:ext uri="{FF2B5EF4-FFF2-40B4-BE49-F238E27FC236}">
                <a16:creationId xmlns:a16="http://schemas.microsoft.com/office/drawing/2014/main" id="{00292793-C6BB-C7E6-D6CF-E3A7CA90A6E1}"/>
              </a:ext>
            </a:extLst>
          </p:cNvPr>
          <p:cNvGrpSpPr/>
          <p:nvPr/>
        </p:nvGrpSpPr>
        <p:grpSpPr>
          <a:xfrm>
            <a:off x="7677756" y="2764529"/>
            <a:ext cx="2357120" cy="3553688"/>
            <a:chOff x="8016240" y="2316480"/>
            <a:chExt cx="2357120" cy="3553688"/>
          </a:xfrm>
        </p:grpSpPr>
        <p:sp>
          <p:nvSpPr>
            <p:cNvPr id="12" name="Rectangle: Rounded Corners 11">
              <a:extLst>
                <a:ext uri="{FF2B5EF4-FFF2-40B4-BE49-F238E27FC236}">
                  <a16:creationId xmlns:a16="http://schemas.microsoft.com/office/drawing/2014/main" id="{C0D50266-3730-1F07-FC3C-3BF65A9C53F5}"/>
                </a:ext>
              </a:extLst>
            </p:cNvPr>
            <p:cNvSpPr/>
            <p:nvPr/>
          </p:nvSpPr>
          <p:spPr>
            <a:xfrm>
              <a:off x="8016240" y="2316480"/>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speech</a:t>
              </a:r>
            </a:p>
          </p:txBody>
        </p:sp>
        <p:sp>
          <p:nvSpPr>
            <p:cNvPr id="14" name="Rectangle: Rounded Corners 13">
              <a:extLst>
                <a:ext uri="{FF2B5EF4-FFF2-40B4-BE49-F238E27FC236}">
                  <a16:creationId xmlns:a16="http://schemas.microsoft.com/office/drawing/2014/main" id="{478BA6BF-FF76-4C3A-8CCC-5845A0A51F06}"/>
                </a:ext>
              </a:extLst>
            </p:cNvPr>
            <p:cNvSpPr/>
            <p:nvPr/>
          </p:nvSpPr>
          <p:spPr>
            <a:xfrm>
              <a:off x="8016240" y="3747884"/>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text</a:t>
              </a:r>
            </a:p>
          </p:txBody>
        </p:sp>
        <p:sp>
          <p:nvSpPr>
            <p:cNvPr id="16" name="Rectangle: Rounded Corners 15">
              <a:extLst>
                <a:ext uri="{FF2B5EF4-FFF2-40B4-BE49-F238E27FC236}">
                  <a16:creationId xmlns:a16="http://schemas.microsoft.com/office/drawing/2014/main" id="{E42F8C2E-C7C1-06C3-0418-EF1626B841F7}"/>
                </a:ext>
              </a:extLst>
            </p:cNvPr>
            <p:cNvSpPr/>
            <p:nvPr/>
          </p:nvSpPr>
          <p:spPr>
            <a:xfrm>
              <a:off x="8016240" y="5179288"/>
              <a:ext cx="2357120" cy="69088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direction</a:t>
              </a:r>
            </a:p>
          </p:txBody>
        </p:sp>
        <p:cxnSp>
          <p:nvCxnSpPr>
            <p:cNvPr id="20" name="Straight Arrow Connector 19">
              <a:extLst>
                <a:ext uri="{FF2B5EF4-FFF2-40B4-BE49-F238E27FC236}">
                  <a16:creationId xmlns:a16="http://schemas.microsoft.com/office/drawing/2014/main" id="{1C522B68-A831-E4C1-3F07-A07D02117E82}"/>
                </a:ext>
              </a:extLst>
            </p:cNvPr>
            <p:cNvCxnSpPr>
              <a:stCxn id="12" idx="2"/>
              <a:endCxn id="14" idx="0"/>
            </p:cNvCxnSpPr>
            <p:nvPr/>
          </p:nvCxnSpPr>
          <p:spPr>
            <a:xfrm>
              <a:off x="9194800" y="3007360"/>
              <a:ext cx="0" cy="740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CB9133D-E143-A3C3-F85C-24675FB91EAF}"/>
                </a:ext>
              </a:extLst>
            </p:cNvPr>
            <p:cNvCxnSpPr>
              <a:stCxn id="14" idx="2"/>
              <a:endCxn id="16" idx="0"/>
            </p:cNvCxnSpPr>
            <p:nvPr/>
          </p:nvCxnSpPr>
          <p:spPr>
            <a:xfrm>
              <a:off x="9194800" y="4438764"/>
              <a:ext cx="0" cy="740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5" name="TextBox 24">
            <a:extLst>
              <a:ext uri="{FF2B5EF4-FFF2-40B4-BE49-F238E27FC236}">
                <a16:creationId xmlns:a16="http://schemas.microsoft.com/office/drawing/2014/main" id="{ECC63EB7-8C93-D0E4-9883-BD353DBA142A}"/>
              </a:ext>
            </a:extLst>
          </p:cNvPr>
          <p:cNvSpPr txBox="1"/>
          <p:nvPr/>
        </p:nvSpPr>
        <p:spPr>
          <a:xfrm>
            <a:off x="7800104" y="1847077"/>
            <a:ext cx="2112424" cy="646331"/>
          </a:xfrm>
          <a:prstGeom prst="rect">
            <a:avLst/>
          </a:prstGeom>
          <a:noFill/>
        </p:spPr>
        <p:txBody>
          <a:bodyPr wrap="square" rtlCol="0">
            <a:spAutoFit/>
          </a:bodyPr>
          <a:lstStyle/>
          <a:p>
            <a:pPr algn="ctr"/>
            <a:r>
              <a:rPr lang="en-GB" sz="3600" b="1" dirty="0"/>
              <a:t>Pipeline</a:t>
            </a:r>
          </a:p>
        </p:txBody>
      </p:sp>
    </p:spTree>
    <p:extLst>
      <p:ext uri="{BB962C8B-B14F-4D97-AF65-F5344CB8AC3E}">
        <p14:creationId xmlns:p14="http://schemas.microsoft.com/office/powerpoint/2010/main" val="2180038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B1F940C-4A11-7344-631D-C7F4428F0F9C}"/>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68CF30-D0BC-63A6-F4CA-B894C798C61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Gameplay DEMO</a:t>
            </a:r>
          </a:p>
        </p:txBody>
      </p:sp>
      <p:pic>
        <p:nvPicPr>
          <p:cNvPr id="23" name="Graphic 22" descr="Monitor">
            <a:extLst>
              <a:ext uri="{FF2B5EF4-FFF2-40B4-BE49-F238E27FC236}">
                <a16:creationId xmlns:a16="http://schemas.microsoft.com/office/drawing/2014/main" id="{6347FDAD-293F-8A6D-C7BE-4ABA135BEF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919" y="1966293"/>
            <a:ext cx="4452160" cy="4452160"/>
          </a:xfrm>
          <a:prstGeom prst="rect">
            <a:avLst/>
          </a:prstGeom>
        </p:spPr>
      </p:pic>
    </p:spTree>
    <p:extLst>
      <p:ext uri="{BB962C8B-B14F-4D97-AF65-F5344CB8AC3E}">
        <p14:creationId xmlns:p14="http://schemas.microsoft.com/office/powerpoint/2010/main" val="1855787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10E22-B8BE-0E38-2268-53FE0946EEA1}"/>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9059127-A7AF-1B00-0380-0B688E3026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D0DDB81-A934-962F-525E-BDE7505155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ED11AFD-5A53-D32B-18A5-9C53A16B26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00BD797-42C1-ABEF-F253-34D699605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499C71-6F18-9E00-C5B9-FDFDB32C39C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Conclusion</a:t>
            </a:r>
            <a:endParaRPr lang="en-US" sz="4000" kern="1200" dirty="0">
              <a:solidFill>
                <a:schemeClr val="bg1"/>
              </a:solidFill>
              <a:latin typeface="+mj-lt"/>
              <a:ea typeface="+mj-ea"/>
              <a:cs typeface="+mj-cs"/>
            </a:endParaRPr>
          </a:p>
        </p:txBody>
      </p:sp>
      <p:sp>
        <p:nvSpPr>
          <p:cNvPr id="3" name="Inhaltsplatzhalter 2">
            <a:extLst>
              <a:ext uri="{FF2B5EF4-FFF2-40B4-BE49-F238E27FC236}">
                <a16:creationId xmlns:a16="http://schemas.microsoft.com/office/drawing/2014/main" id="{6D7D5056-CEC7-1818-3685-79A489EC827B}"/>
              </a:ext>
            </a:extLst>
          </p:cNvPr>
          <p:cNvSpPr>
            <a:spLocks noGrp="1"/>
          </p:cNvSpPr>
          <p:nvPr>
            <p:ph idx="1"/>
          </p:nvPr>
        </p:nvSpPr>
        <p:spPr>
          <a:xfrm>
            <a:off x="838200" y="1825625"/>
            <a:ext cx="10515600" cy="4351338"/>
          </a:xfrm>
        </p:spPr>
        <p:txBody>
          <a:bodyPr/>
          <a:lstStyle/>
          <a:p>
            <a:r>
              <a:rPr lang="de-DE" dirty="0" err="1"/>
              <a:t>Successful</a:t>
            </a:r>
            <a:r>
              <a:rPr lang="de-DE" dirty="0"/>
              <a:t> </a:t>
            </a:r>
            <a:r>
              <a:rPr lang="de-DE" dirty="0" err="1"/>
              <a:t>proof</a:t>
            </a:r>
            <a:r>
              <a:rPr lang="de-DE" dirty="0"/>
              <a:t> </a:t>
            </a:r>
            <a:r>
              <a:rPr lang="de-DE" dirty="0" err="1"/>
              <a:t>of</a:t>
            </a:r>
            <a:r>
              <a:rPr lang="de-DE" dirty="0"/>
              <a:t> </a:t>
            </a:r>
            <a:r>
              <a:rPr lang="de-DE" dirty="0" err="1"/>
              <a:t>concept</a:t>
            </a:r>
            <a:endParaRPr lang="de-DE" dirty="0"/>
          </a:p>
          <a:p>
            <a:r>
              <a:rPr lang="de-DE" dirty="0"/>
              <a:t>Speech </a:t>
            </a:r>
            <a:r>
              <a:rPr lang="de-DE" dirty="0" err="1"/>
              <a:t>as</a:t>
            </a:r>
            <a:r>
              <a:rPr lang="de-DE" dirty="0"/>
              <a:t> </a:t>
            </a:r>
            <a:r>
              <a:rPr lang="de-DE" dirty="0" err="1"/>
              <a:t>lightweight</a:t>
            </a:r>
            <a:r>
              <a:rPr lang="de-DE" dirty="0"/>
              <a:t> interface</a:t>
            </a:r>
            <a:endParaRPr lang="en-US" dirty="0"/>
          </a:p>
          <a:p>
            <a:r>
              <a:rPr lang="en-US" dirty="0"/>
              <a:t>Real-time control works </a:t>
            </a:r>
          </a:p>
          <a:p>
            <a:r>
              <a:rPr lang="en-US" dirty="0"/>
              <a:t>Reliable command recognition</a:t>
            </a:r>
          </a:p>
          <a:p>
            <a:pPr lvl="1"/>
            <a:r>
              <a:rPr lang="en-US" dirty="0"/>
              <a:t>HOWEVER: Problems with accents and background noises</a:t>
            </a:r>
          </a:p>
        </p:txBody>
      </p:sp>
    </p:spTree>
    <p:extLst>
      <p:ext uri="{BB962C8B-B14F-4D97-AF65-F5344CB8AC3E}">
        <p14:creationId xmlns:p14="http://schemas.microsoft.com/office/powerpoint/2010/main" val="2430066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F591F-EA1C-E0DF-88E9-5A77A2C854CE}"/>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DC88B356-9E53-528C-51AE-11145311970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72504" y="2010716"/>
            <a:ext cx="8046992" cy="28365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5953752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451</Words>
  <Application>Microsoft Office PowerPoint</Application>
  <PresentationFormat>Widescreen</PresentationFormat>
  <Paragraphs>80</Paragraphs>
  <Slides>11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Wingdings</vt:lpstr>
      <vt:lpstr>Office</vt:lpstr>
      <vt:lpstr>Voice-Controlled Maze Game SCBIO Final Project 2026</vt:lpstr>
      <vt:lpstr>Outline</vt:lpstr>
      <vt:lpstr>Motivation</vt:lpstr>
      <vt:lpstr>Task Division</vt:lpstr>
      <vt:lpstr>Intoduction to Vosk</vt:lpstr>
      <vt:lpstr>Implementation of Voice Control</vt:lpstr>
      <vt:lpstr>Game integration</vt:lpstr>
      <vt:lpstr>Game integration</vt:lpstr>
      <vt:lpstr>Gameplay DEMO</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Vogt</dc:creator>
  <cp:lastModifiedBy>Luca Steven Delli Castelli</cp:lastModifiedBy>
  <cp:revision>6</cp:revision>
  <dcterms:created xsi:type="dcterms:W3CDTF">2026-05-25T09:07:15Z</dcterms:created>
  <dcterms:modified xsi:type="dcterms:W3CDTF">2026-05-26T13:41:58Z</dcterms:modified>
</cp:coreProperties>
</file>