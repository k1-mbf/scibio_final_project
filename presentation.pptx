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61" r:id="rId2"/>
    <p:sldId id="262" r:id="rId3"/>
    <p:sldId id="257" r:id="rId4"/>
    <p:sldId id="258" r:id="rId5"/>
    <p:sldId id="265" r:id="rId6"/>
    <p:sldId id="267" r:id="rId7"/>
    <p:sldId id="259" r:id="rId8"/>
    <p:sldId id="260" r:id="rId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768" autoAdjust="0"/>
  </p:normalViewPr>
  <p:slideViewPr>
    <p:cSldViewPr snapToGrid="0">
      <p:cViewPr>
        <p:scale>
          <a:sx n="66" d="100"/>
          <a:sy n="66" d="100"/>
        </p:scale>
        <p:origin x="1330" y="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2DE816-4AEB-4C5E-88A4-F622554AF666}" type="datetimeFigureOut">
              <a:rPr lang="en-GB" smtClean="0"/>
              <a:t>25/05/2026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FC2F5D-A00A-4392-B28E-0201BF8C74BB}" type="slidenum">
              <a:rPr lang="en-GB" smtClean="0"/>
              <a:t>‹#›</a:t>
            </a:fld>
            <a:endParaRPr lang="en-GB"/>
          </a:p>
        </p:txBody>
      </p:sp>
    </p:spTree>
    <p:extLst>
      <p:ext uri="{BB962C8B-B14F-4D97-AF65-F5344CB8AC3E}">
        <p14:creationId xmlns:p14="http://schemas.microsoft.com/office/powerpoint/2010/main" val="1266318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Recent technological advances enable faster and more effective responses in crisis situations. Let’s take a look at news footage from an incident in 2024.</a:t>
            </a:r>
            <a:endParaRPr lang="es-ES" dirty="0"/>
          </a:p>
        </p:txBody>
      </p:sp>
      <p:sp>
        <p:nvSpPr>
          <p:cNvPr id="4" name="Marcador de número de diapositiva 3"/>
          <p:cNvSpPr>
            <a:spLocks noGrp="1"/>
          </p:cNvSpPr>
          <p:nvPr>
            <p:ph type="sldNum" sz="quarter" idx="5"/>
          </p:nvPr>
        </p:nvSpPr>
        <p:spPr/>
        <p:txBody>
          <a:bodyPr/>
          <a:lstStyle/>
          <a:p>
            <a:fld id="{F6EBE3E2-2B74-4E4F-B4E3-2A3C31E4FD1F}" type="slidenum">
              <a:rPr lang="en-GB" smtClean="0"/>
              <a:t>1</a:t>
            </a:fld>
            <a:endParaRPr lang="en-GB"/>
          </a:p>
        </p:txBody>
      </p:sp>
    </p:spTree>
    <p:extLst>
      <p:ext uri="{BB962C8B-B14F-4D97-AF65-F5344CB8AC3E}">
        <p14:creationId xmlns:p14="http://schemas.microsoft.com/office/powerpoint/2010/main" val="12894218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we introduce speech recognition using </a:t>
            </a:r>
            <a:r>
              <a:rPr lang="en-GB" dirty="0" err="1"/>
              <a:t>Vosk</a:t>
            </a:r>
            <a:r>
              <a:rPr lang="en-GB" dirty="0"/>
              <a:t> and Kaldi. The input is a raw audio signal, which is converted into MFCC features (Mel-Frequency Cepstral Coefficients). These features represent important speech frequencies based on how humans perceive sound.</a:t>
            </a:r>
          </a:p>
          <a:p>
            <a:r>
              <a:rPr lang="en-GB" dirty="0" err="1"/>
              <a:t>Vosk</a:t>
            </a:r>
            <a:r>
              <a:rPr lang="en-GB" dirty="0"/>
              <a:t> and Kaldi mainly use two models. First, the acoustic model maps these audio features to possible speech sounds. In this pipeline, a GMM-HMM based acoustic model is used. Gaussian Mixture Models, or GMMs, are used to model the probability of speech sounds, while Hidden Markov Models, or HMMs, model how speech changes over time.</a:t>
            </a:r>
          </a:p>
          <a:p>
            <a:r>
              <a:rPr lang="en-GB" dirty="0"/>
              <a:t>Then, the language model predicts the most likely word sequence using word probabilities and grammar statistics. Finally, the decoder combines the acoustic model scores and the language model scores to determine the most probable sentence or command.</a:t>
            </a:r>
          </a:p>
          <a:p>
            <a:r>
              <a:rPr lang="en-GB" dirty="0"/>
              <a:t>In our project, we extract commands like ‘up’, ‘down’, ‘left’, ‘right’, and ‘exit’ to control the maze game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https://www.researchgate.net/publication/228828379_The_Kaldi_speech_recognition_toolkit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https://alphacephei.com/vosk/models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In </a:t>
            </a:r>
            <a:r>
              <a:rPr lang="en-GB" sz="1200" b="0" i="0" kern="1200" dirty="0" err="1">
                <a:solidFill>
                  <a:schemeClr val="tx1"/>
                </a:solidFill>
                <a:effectLst/>
                <a:latin typeface="+mn-lt"/>
                <a:ea typeface="+mn-ea"/>
                <a:cs typeface="+mn-cs"/>
              </a:rPr>
              <a:t>zwei</a:t>
            </a:r>
            <a:r>
              <a:rPr lang="en-GB" sz="1200" b="0" i="0" kern="1200" dirty="0">
                <a:solidFill>
                  <a:schemeClr val="tx1"/>
                </a:solidFill>
                <a:effectLst/>
                <a:latin typeface="+mn-lt"/>
                <a:ea typeface="+mn-ea"/>
                <a:cs typeface="+mn-cs"/>
              </a:rPr>
              <a:t> test </a:t>
            </a:r>
            <a:r>
              <a:rPr lang="en-GB" sz="1200" b="0" i="0" kern="1200" dirty="0" err="1">
                <a:solidFill>
                  <a:schemeClr val="tx1"/>
                </a:solidFill>
                <a:effectLst/>
                <a:latin typeface="+mn-lt"/>
                <a:ea typeface="+mn-ea"/>
                <a:cs typeface="+mn-cs"/>
              </a:rPr>
              <a:t>zwsichen</a:t>
            </a:r>
            <a:r>
              <a:rPr lang="en-GB" sz="1200" b="0" i="0" kern="1200" dirty="0">
                <a:solidFill>
                  <a:schemeClr val="tx1"/>
                </a:solidFill>
                <a:effectLst/>
                <a:latin typeface="+mn-lt"/>
                <a:ea typeface="+mn-ea"/>
                <a:cs typeface="+mn-cs"/>
              </a:rPr>
              <a:t> 9.85 und 10.38 WER</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9.85 (</a:t>
            </a:r>
            <a:r>
              <a:rPr lang="en-GB" sz="1200" b="0" i="0" kern="1200" dirty="0" err="1">
                <a:solidFill>
                  <a:schemeClr val="tx1"/>
                </a:solidFill>
                <a:effectLst/>
                <a:latin typeface="+mn-lt"/>
                <a:ea typeface="+mn-ea"/>
                <a:cs typeface="+mn-cs"/>
              </a:rPr>
              <a:t>librispeech</a:t>
            </a:r>
            <a:r>
              <a:rPr lang="en-GB" sz="1200" b="0" i="0" kern="1200" dirty="0">
                <a:solidFill>
                  <a:schemeClr val="tx1"/>
                </a:solidFill>
                <a:effectLst/>
                <a:latin typeface="+mn-lt"/>
                <a:ea typeface="+mn-ea"/>
                <a:cs typeface="+mn-cs"/>
              </a:rPr>
              <a:t> test-clean) 10.38 (</a:t>
            </a:r>
            <a:r>
              <a:rPr lang="en-GB" sz="1200" b="0" i="0" kern="1200" dirty="0" err="1">
                <a:solidFill>
                  <a:schemeClr val="tx1"/>
                </a:solidFill>
                <a:effectLst/>
                <a:latin typeface="+mn-lt"/>
                <a:ea typeface="+mn-ea"/>
                <a:cs typeface="+mn-cs"/>
              </a:rPr>
              <a:t>tedlium</a:t>
            </a:r>
            <a:r>
              <a:rPr lang="en-GB" sz="1200" b="0" i="0" kern="1200" dirty="0">
                <a:solidFill>
                  <a:schemeClr val="tx1"/>
                </a:solidFill>
                <a:effectLst/>
                <a:latin typeface="+mn-lt"/>
                <a:ea typeface="+mn-ea"/>
                <a:cs typeface="+mn-cs"/>
              </a:rPr>
              <a:t>)</a:t>
            </a:r>
          </a:p>
          <a:p>
            <a:endParaRPr lang="en-GB" dirty="0"/>
          </a:p>
        </p:txBody>
      </p:sp>
      <p:sp>
        <p:nvSpPr>
          <p:cNvPr id="4" name="Slide Number Placeholder 3"/>
          <p:cNvSpPr>
            <a:spLocks noGrp="1"/>
          </p:cNvSpPr>
          <p:nvPr>
            <p:ph type="sldNum" sz="quarter" idx="5"/>
          </p:nvPr>
        </p:nvSpPr>
        <p:spPr/>
        <p:txBody>
          <a:bodyPr/>
          <a:lstStyle/>
          <a:p>
            <a:fld id="{67FC2F5D-A00A-4392-B28E-0201BF8C74BB}" type="slidenum">
              <a:rPr lang="en-GB" smtClean="0"/>
              <a:t>5</a:t>
            </a:fld>
            <a:endParaRPr lang="en-GB"/>
          </a:p>
        </p:txBody>
      </p:sp>
    </p:spTree>
    <p:extLst>
      <p:ext uri="{BB962C8B-B14F-4D97-AF65-F5344CB8AC3E}">
        <p14:creationId xmlns:p14="http://schemas.microsoft.com/office/powerpoint/2010/main" val="33494194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2992B-4C1C-92A7-ABA9-43DB1242C9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72793-F39E-4D8D-FFCE-055433012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9CEF1A-0CD4-4905-BB5D-8582A9CFD82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https://www.researchgate.net/publication/228828379_The_Kaldi_speech_recognition_toolkit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https://alphacephei.com/vosk/models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In </a:t>
            </a:r>
            <a:r>
              <a:rPr lang="en-GB" sz="1200" b="0" i="0" kern="1200" dirty="0" err="1">
                <a:solidFill>
                  <a:schemeClr val="tx1"/>
                </a:solidFill>
                <a:effectLst/>
                <a:latin typeface="+mn-lt"/>
                <a:ea typeface="+mn-ea"/>
                <a:cs typeface="+mn-cs"/>
              </a:rPr>
              <a:t>zwei</a:t>
            </a:r>
            <a:r>
              <a:rPr lang="en-GB" sz="1200" b="0" i="0" kern="1200" dirty="0">
                <a:solidFill>
                  <a:schemeClr val="tx1"/>
                </a:solidFill>
                <a:effectLst/>
                <a:latin typeface="+mn-lt"/>
                <a:ea typeface="+mn-ea"/>
                <a:cs typeface="+mn-cs"/>
              </a:rPr>
              <a:t> test </a:t>
            </a:r>
            <a:r>
              <a:rPr lang="en-GB" sz="1200" b="0" i="0" kern="1200" dirty="0" err="1">
                <a:solidFill>
                  <a:schemeClr val="tx1"/>
                </a:solidFill>
                <a:effectLst/>
                <a:latin typeface="+mn-lt"/>
                <a:ea typeface="+mn-ea"/>
                <a:cs typeface="+mn-cs"/>
              </a:rPr>
              <a:t>zwsichen</a:t>
            </a:r>
            <a:r>
              <a:rPr lang="en-GB" sz="1200" b="0" i="0" kern="1200" dirty="0">
                <a:solidFill>
                  <a:schemeClr val="tx1"/>
                </a:solidFill>
                <a:effectLst/>
                <a:latin typeface="+mn-lt"/>
                <a:ea typeface="+mn-ea"/>
                <a:cs typeface="+mn-cs"/>
              </a:rPr>
              <a:t> 9.85 und 10.38 WER</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9.85 (</a:t>
            </a:r>
            <a:r>
              <a:rPr lang="en-GB" sz="1200" b="0" i="0" kern="1200" dirty="0" err="1">
                <a:solidFill>
                  <a:schemeClr val="tx1"/>
                </a:solidFill>
                <a:effectLst/>
                <a:latin typeface="+mn-lt"/>
                <a:ea typeface="+mn-ea"/>
                <a:cs typeface="+mn-cs"/>
              </a:rPr>
              <a:t>librispeech</a:t>
            </a:r>
            <a:r>
              <a:rPr lang="en-GB" sz="1200" b="0" i="0" kern="1200" dirty="0">
                <a:solidFill>
                  <a:schemeClr val="tx1"/>
                </a:solidFill>
                <a:effectLst/>
                <a:latin typeface="+mn-lt"/>
                <a:ea typeface="+mn-ea"/>
                <a:cs typeface="+mn-cs"/>
              </a:rPr>
              <a:t> test-clean) 10.38 (</a:t>
            </a:r>
            <a:r>
              <a:rPr lang="en-GB" sz="1200" b="0" i="0" kern="1200" dirty="0" err="1">
                <a:solidFill>
                  <a:schemeClr val="tx1"/>
                </a:solidFill>
                <a:effectLst/>
                <a:latin typeface="+mn-lt"/>
                <a:ea typeface="+mn-ea"/>
                <a:cs typeface="+mn-cs"/>
              </a:rPr>
              <a:t>tedlium</a:t>
            </a:r>
            <a:r>
              <a:rPr lang="en-GB" sz="1200" b="0" i="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2203D6CD-C99E-101E-81A6-C45D25930183}"/>
              </a:ext>
            </a:extLst>
          </p:cNvPr>
          <p:cNvSpPr>
            <a:spLocks noGrp="1"/>
          </p:cNvSpPr>
          <p:nvPr>
            <p:ph type="sldNum" sz="quarter" idx="5"/>
          </p:nvPr>
        </p:nvSpPr>
        <p:spPr/>
        <p:txBody>
          <a:bodyPr/>
          <a:lstStyle/>
          <a:p>
            <a:fld id="{67FC2F5D-A00A-4392-B28E-0201BF8C74BB}" type="slidenum">
              <a:rPr lang="en-GB" smtClean="0"/>
              <a:t>6</a:t>
            </a:fld>
            <a:endParaRPr lang="en-GB"/>
          </a:p>
        </p:txBody>
      </p:sp>
    </p:spTree>
    <p:extLst>
      <p:ext uri="{BB962C8B-B14F-4D97-AF65-F5344CB8AC3E}">
        <p14:creationId xmlns:p14="http://schemas.microsoft.com/office/powerpoint/2010/main" val="30752830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548C011-A674-0907-5A0F-4389480455F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98A14D4-5494-7458-0C3D-0EA614F8B4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45F5ACB5-8FF3-7BAF-2DB6-FA4C4555C65F}"/>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5" name="Fußzeilenplatzhalter 4">
            <a:extLst>
              <a:ext uri="{FF2B5EF4-FFF2-40B4-BE49-F238E27FC236}">
                <a16:creationId xmlns:a16="http://schemas.microsoft.com/office/drawing/2014/main" id="{AFD0FB8C-EBEF-D099-2B47-E95A7F974618}"/>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C83E35D-E01F-04ED-67A2-CF87D0659105}"/>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469943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8CC3C4-F730-5D30-F212-06F7290B79D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93A797F-034C-F784-AEAF-FF9B68066FD6}"/>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A5A6262-345C-37AA-60A3-DD92929F57C6}"/>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5" name="Fußzeilenplatzhalter 4">
            <a:extLst>
              <a:ext uri="{FF2B5EF4-FFF2-40B4-BE49-F238E27FC236}">
                <a16:creationId xmlns:a16="http://schemas.microsoft.com/office/drawing/2014/main" id="{370CDF4B-4416-8755-43F9-FC15BFB7D6A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6BFCE24-5969-2BE0-9D86-74A3DEB03B6B}"/>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086313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E61E5AB-1152-3C12-A7C7-1BFFF7F50094}"/>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EABB6EBB-2283-297F-4D80-8BB3E2E302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B1613F1B-A36B-1AF8-A670-1B35C7EF8841}"/>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5" name="Fußzeilenplatzhalter 4">
            <a:extLst>
              <a:ext uri="{FF2B5EF4-FFF2-40B4-BE49-F238E27FC236}">
                <a16:creationId xmlns:a16="http://schemas.microsoft.com/office/drawing/2014/main" id="{85E8028C-5154-DDF3-455B-5D24F07322F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BC42305-39B7-109E-DA5E-0BBC12B2B8E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1911718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3760A0-0423-1177-7F26-9466097DBC51}"/>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4070433F-CB4E-1FFE-5D17-E42B7D7A1532}"/>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7FCF630-0521-4BBD-2E2B-B4135FD2DC30}"/>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48AB2E0-EE29-F02B-F1D5-A7A666437B15}"/>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6" name="Fußzeilenplatzhalter 5">
            <a:extLst>
              <a:ext uri="{FF2B5EF4-FFF2-40B4-BE49-F238E27FC236}">
                <a16:creationId xmlns:a16="http://schemas.microsoft.com/office/drawing/2014/main" id="{0B5B0D75-D4F5-B15B-0EF6-EFD9FF93F6C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360740D-8C10-3ED6-2462-C385D2D23DD9}"/>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590305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6D2AD3-E744-1A3A-C441-B8353C9F9269}"/>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1488EBFB-782C-E230-4A1E-B2F3116334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C6377CEF-A1B5-DBFF-181A-00DC46C00CE0}"/>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9ADF585B-321C-204E-A8B1-B3B098DBA1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0B90C39-7680-BD53-3804-D5CE5AA9EF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4572FDA1-5660-B82C-4B3F-2C9CD773D820}"/>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8" name="Fußzeilenplatzhalter 7">
            <a:extLst>
              <a:ext uri="{FF2B5EF4-FFF2-40B4-BE49-F238E27FC236}">
                <a16:creationId xmlns:a16="http://schemas.microsoft.com/office/drawing/2014/main" id="{937B6BF8-D2F6-0118-7C56-57E9BDBF2433}"/>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CC6F15B6-C9F5-0CB7-233F-6C1A883821C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305033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194E95-504F-9A08-5E0A-3893E0C891CE}"/>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51391B65-522D-3229-47FF-8CB5BDCA0E6E}"/>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4" name="Fußzeilenplatzhalter 3">
            <a:extLst>
              <a:ext uri="{FF2B5EF4-FFF2-40B4-BE49-F238E27FC236}">
                <a16:creationId xmlns:a16="http://schemas.microsoft.com/office/drawing/2014/main" id="{F58F7091-A2E0-26C2-95B1-32991A00F41D}"/>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D1F3C58-8F84-D8D4-DDBD-3988344B5A86}"/>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33015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84AF8A9A-B3B1-D106-BB70-4AB844B0CA9F}"/>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3" name="Fußzeilenplatzhalter 2">
            <a:extLst>
              <a:ext uri="{FF2B5EF4-FFF2-40B4-BE49-F238E27FC236}">
                <a16:creationId xmlns:a16="http://schemas.microsoft.com/office/drawing/2014/main" id="{79B2717D-F315-1D8B-B63C-CF6FFB07D53D}"/>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2F0D478-12AC-2A77-F5B8-B671544D5FAE}"/>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621881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79D616-D058-C8AA-B1C5-68AEAB02407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400915E1-CE45-CAE0-CCC1-55DB34B6DF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C230DCA6-B52C-59CC-BCE7-D74655ABFE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970AD5D-EA55-28B3-5AF2-D13AC8979D7A}"/>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6" name="Fußzeilenplatzhalter 5">
            <a:extLst>
              <a:ext uri="{FF2B5EF4-FFF2-40B4-BE49-F238E27FC236}">
                <a16:creationId xmlns:a16="http://schemas.microsoft.com/office/drawing/2014/main" id="{AC8D70CF-FBD6-6471-D7AF-BD62CEA6BAB5}"/>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C1C9E55-06EB-5135-7906-A3B52C7D31F3}"/>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556558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8FB4F40-3086-264B-B23E-93F922DAE679}"/>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83D9D64C-54BF-7F10-DA37-A2F801335D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0359C645-E130-1F5D-1F9C-635146D360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7012149-22B6-7D31-6E5F-AA9CC7AEB63D}"/>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6" name="Fußzeilenplatzhalter 5">
            <a:extLst>
              <a:ext uri="{FF2B5EF4-FFF2-40B4-BE49-F238E27FC236}">
                <a16:creationId xmlns:a16="http://schemas.microsoft.com/office/drawing/2014/main" id="{3B8C18DB-109D-3789-1181-71143455B384}"/>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05280A7-7583-1376-98F2-2244CF6BA5F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1888747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2682D2-EF4C-6220-91DF-A25B808B26C2}"/>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F9212E0C-10F3-AF24-E651-AD0D2C245787}"/>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06549BC-7F65-0A95-9B04-4520297ADFE0}"/>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5" name="Fußzeilenplatzhalter 4">
            <a:extLst>
              <a:ext uri="{FF2B5EF4-FFF2-40B4-BE49-F238E27FC236}">
                <a16:creationId xmlns:a16="http://schemas.microsoft.com/office/drawing/2014/main" id="{B0C80375-2439-85F1-02AC-357CAFAEEA5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8FB48FE-1F1B-E53C-5529-2F97848322CC}"/>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2242938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4F546A-96B3-6EF4-DA71-8E4C732B415D}"/>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2CE0CA43-DEE4-D9BB-352D-C73D05F5B7B1}"/>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60DFD8D-1C9A-A375-223D-78C46C1DB29B}"/>
              </a:ext>
            </a:extLst>
          </p:cNvPr>
          <p:cNvSpPr>
            <a:spLocks noGrp="1"/>
          </p:cNvSpPr>
          <p:nvPr>
            <p:ph type="dt" sz="half" idx="10"/>
          </p:nvPr>
        </p:nvSpPr>
        <p:spPr/>
        <p:txBody>
          <a:bodyPr/>
          <a:lstStyle/>
          <a:p>
            <a:fld id="{259F4B15-8AB2-4C86-B5C5-75A9D4FD84E4}" type="datetimeFigureOut">
              <a:rPr lang="de-DE" smtClean="0"/>
              <a:t>25.05.2026</a:t>
            </a:fld>
            <a:endParaRPr lang="de-DE"/>
          </a:p>
        </p:txBody>
      </p:sp>
      <p:sp>
        <p:nvSpPr>
          <p:cNvPr id="5" name="Fußzeilenplatzhalter 4">
            <a:extLst>
              <a:ext uri="{FF2B5EF4-FFF2-40B4-BE49-F238E27FC236}">
                <a16:creationId xmlns:a16="http://schemas.microsoft.com/office/drawing/2014/main" id="{113B3037-0B41-08BA-1EB0-C206585F86C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60696BA0-D818-4A20-85E7-83AC6FFCBAF3}"/>
              </a:ext>
            </a:extLst>
          </p:cNvPr>
          <p:cNvSpPr>
            <a:spLocks noGrp="1"/>
          </p:cNvSpPr>
          <p:nvPr>
            <p:ph type="sldNum" sz="quarter" idx="12"/>
          </p:nvPr>
        </p:nvSpPr>
        <p:spPr/>
        <p:txBody>
          <a:bodyPr/>
          <a:lstStyle/>
          <a:p>
            <a:fld id="{DF77B1EE-E11C-4EC7-A74B-D7DD5378CF50}" type="slidenum">
              <a:rPr lang="de-DE" smtClean="0"/>
              <a:t>‹#›</a:t>
            </a:fld>
            <a:endParaRPr lang="de-DE"/>
          </a:p>
        </p:txBody>
      </p:sp>
    </p:spTree>
    <p:extLst>
      <p:ext uri="{BB962C8B-B14F-4D97-AF65-F5344CB8AC3E}">
        <p14:creationId xmlns:p14="http://schemas.microsoft.com/office/powerpoint/2010/main" val="34145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8DEDE3A-4CA7-57C8-C2E8-0B7EAA23D3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B3A01489-FD35-1198-C22D-F8AF164EF1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94E6FFA-B481-6BD5-34A3-E043491D9B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9F4B15-8AB2-4C86-B5C5-75A9D4FD84E4}" type="datetimeFigureOut">
              <a:rPr lang="de-DE" smtClean="0"/>
              <a:t>25.05.2026</a:t>
            </a:fld>
            <a:endParaRPr lang="de-DE"/>
          </a:p>
        </p:txBody>
      </p:sp>
      <p:sp>
        <p:nvSpPr>
          <p:cNvPr id="5" name="Fußzeilenplatzhalter 4">
            <a:extLst>
              <a:ext uri="{FF2B5EF4-FFF2-40B4-BE49-F238E27FC236}">
                <a16:creationId xmlns:a16="http://schemas.microsoft.com/office/drawing/2014/main" id="{31873554-4421-E709-CC23-10C100A718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CB641967-8CA8-0598-E299-848E9120ED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77B1EE-E11C-4EC7-A74B-D7DD5378CF50}" type="slidenum">
              <a:rPr lang="de-DE" smtClean="0"/>
              <a:t>‹#›</a:t>
            </a:fld>
            <a:endParaRPr lang="de-DE"/>
          </a:p>
        </p:txBody>
      </p:sp>
    </p:spTree>
    <p:extLst>
      <p:ext uri="{BB962C8B-B14F-4D97-AF65-F5344CB8AC3E}">
        <p14:creationId xmlns:p14="http://schemas.microsoft.com/office/powerpoint/2010/main" val="20399823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 name="Rectangle 1032">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9FB47B0-2F4D-CB4B-26E4-D53C5285D018}"/>
              </a:ext>
            </a:extLst>
          </p:cNvPr>
          <p:cNvSpPr>
            <a:spLocks noGrp="1"/>
          </p:cNvSpPr>
          <p:nvPr>
            <p:ph type="ctrTitle"/>
          </p:nvPr>
        </p:nvSpPr>
        <p:spPr>
          <a:xfrm>
            <a:off x="1127208" y="857251"/>
            <a:ext cx="4747280" cy="3098061"/>
          </a:xfrm>
        </p:spPr>
        <p:txBody>
          <a:bodyPr anchor="b">
            <a:normAutofit/>
          </a:bodyPr>
          <a:lstStyle/>
          <a:p>
            <a:pPr algn="l"/>
            <a:r>
              <a:rPr lang="en-US" sz="4800" b="1" dirty="0">
                <a:solidFill>
                  <a:schemeClr val="bg1"/>
                </a:solidFill>
              </a:rPr>
              <a:t>Voice-Controlled Maze Game</a:t>
            </a:r>
            <a:br>
              <a:rPr lang="en-US" sz="4800" b="1" dirty="0">
                <a:solidFill>
                  <a:schemeClr val="bg1"/>
                </a:solidFill>
              </a:rPr>
            </a:br>
            <a:r>
              <a:rPr lang="en-US" sz="2400" b="1" dirty="0">
                <a:solidFill>
                  <a:schemeClr val="bg1"/>
                </a:solidFill>
              </a:rPr>
              <a:t>SCBIO Final Project 2026</a:t>
            </a:r>
            <a:endParaRPr lang="en-GB" sz="2400" dirty="0">
              <a:solidFill>
                <a:schemeClr val="bg1"/>
              </a:solidFill>
            </a:endParaRPr>
          </a:p>
        </p:txBody>
      </p:sp>
      <p:sp>
        <p:nvSpPr>
          <p:cNvPr id="1039" name="Rectangle 1038">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D314810E-1A9E-0C2C-6135-74D6277F415F}"/>
              </a:ext>
            </a:extLst>
          </p:cNvPr>
          <p:cNvSpPr>
            <a:spLocks noGrp="1"/>
          </p:cNvSpPr>
          <p:nvPr>
            <p:ph type="subTitle" idx="1"/>
          </p:nvPr>
        </p:nvSpPr>
        <p:spPr>
          <a:xfrm>
            <a:off x="1127208" y="4355585"/>
            <a:ext cx="4393278" cy="1645163"/>
          </a:xfrm>
        </p:spPr>
        <p:txBody>
          <a:bodyPr vert="horz" lIns="91440" tIns="45720" rIns="91440" bIns="45720" rtlCol="0" anchor="t">
            <a:noAutofit/>
          </a:bodyPr>
          <a:lstStyle/>
          <a:p>
            <a:pPr algn="l"/>
            <a:r>
              <a:rPr lang="en-GB" sz="1400" dirty="0">
                <a:solidFill>
                  <a:srgbClr val="FFFFFF"/>
                </a:solidFill>
              </a:rPr>
              <a:t>Kewan</a:t>
            </a:r>
          </a:p>
          <a:p>
            <a:pPr algn="l"/>
            <a:r>
              <a:rPr lang="en-GB" sz="1400" dirty="0">
                <a:solidFill>
                  <a:srgbClr val="FFFFFF"/>
                </a:solidFill>
              </a:rPr>
              <a:t>Michael Vogt</a:t>
            </a:r>
          </a:p>
          <a:p>
            <a:pPr algn="l"/>
            <a:r>
              <a:rPr lang="en-GB" sz="1400" dirty="0">
                <a:solidFill>
                  <a:srgbClr val="FFFFFF"/>
                </a:solidFill>
              </a:rPr>
              <a:t>Tizian</a:t>
            </a:r>
          </a:p>
          <a:p>
            <a:pPr algn="l"/>
            <a:r>
              <a:rPr lang="en-GB" sz="1400" dirty="0">
                <a:solidFill>
                  <a:srgbClr val="FFFFFF"/>
                </a:solidFill>
              </a:rPr>
              <a:t>Luca Delli Castelli</a:t>
            </a:r>
          </a:p>
          <a:p>
            <a:pPr algn="l"/>
            <a:endParaRPr lang="en-GB" sz="1400" dirty="0">
              <a:solidFill>
                <a:srgbClr val="FFFFFF"/>
              </a:solidFill>
            </a:endParaRPr>
          </a:p>
          <a:p>
            <a:pPr algn="l"/>
            <a:r>
              <a:rPr lang="en-GB" sz="1400" dirty="0">
                <a:solidFill>
                  <a:srgbClr val="FFFFFF"/>
                </a:solidFill>
                <a:ea typeface="+mn-lt"/>
                <a:cs typeface="+mn-lt"/>
              </a:rPr>
              <a:t>Sistemas </a:t>
            </a:r>
            <a:r>
              <a:rPr lang="en-GB" sz="1400" dirty="0" err="1">
                <a:solidFill>
                  <a:srgbClr val="FFFFFF"/>
                </a:solidFill>
                <a:ea typeface="+mn-lt"/>
                <a:cs typeface="+mn-lt"/>
              </a:rPr>
              <a:t>Complexos</a:t>
            </a:r>
            <a:r>
              <a:rPr lang="en-GB" sz="1400" dirty="0">
                <a:solidFill>
                  <a:srgbClr val="FFFFFF"/>
                </a:solidFill>
                <a:ea typeface="+mn-lt"/>
                <a:cs typeface="+mn-lt"/>
              </a:rPr>
              <a:t> </a:t>
            </a:r>
            <a:r>
              <a:rPr lang="en-GB" sz="1400" dirty="0" err="1">
                <a:solidFill>
                  <a:srgbClr val="FFFFFF"/>
                </a:solidFill>
                <a:ea typeface="+mn-lt"/>
                <a:cs typeface="+mn-lt"/>
              </a:rPr>
              <a:t>Bioinspirados</a:t>
            </a:r>
            <a:r>
              <a:rPr lang="en-GB" sz="1400" dirty="0">
                <a:solidFill>
                  <a:srgbClr val="FFFFFF"/>
                </a:solidFill>
                <a:ea typeface="+mn-lt"/>
                <a:cs typeface="+mn-lt"/>
              </a:rPr>
              <a:t> (SCIBIO)</a:t>
            </a:r>
          </a:p>
          <a:p>
            <a:pPr algn="l"/>
            <a:r>
              <a:rPr lang="en-GB" sz="1400" dirty="0">
                <a:solidFill>
                  <a:srgbClr val="FFFFFF"/>
                </a:solidFill>
                <a:ea typeface="+mn-lt"/>
                <a:cs typeface="+mn-lt"/>
              </a:rPr>
              <a:t>Lecturer: Fernando Escobar Ropero</a:t>
            </a:r>
          </a:p>
        </p:txBody>
      </p:sp>
      <p:sp>
        <p:nvSpPr>
          <p:cNvPr id="1041" name="Oval 1040">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B830067-0DC3-6A75-3F15-3A30ADCC8D3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20559" y="2777468"/>
            <a:ext cx="3737164" cy="13173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67590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9" name="Rectangle 2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Freeform: Shape 3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Rectangle 3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D7F146-BBFE-BAAD-B8EF-92A6A3A48B5F}"/>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O</a:t>
            </a:r>
            <a:r>
              <a:rPr lang="en-US" sz="4000" kern="1200" dirty="0">
                <a:solidFill>
                  <a:srgbClr val="FFFFFF"/>
                </a:solidFill>
                <a:latin typeface="+mj-lt"/>
                <a:ea typeface="+mj-ea"/>
                <a:cs typeface="+mj-cs"/>
              </a:rPr>
              <a:t>utline</a:t>
            </a:r>
          </a:p>
        </p:txBody>
      </p:sp>
      <p:sp>
        <p:nvSpPr>
          <p:cNvPr id="7" name="Rectangle 4">
            <a:extLst>
              <a:ext uri="{FF2B5EF4-FFF2-40B4-BE49-F238E27FC236}">
                <a16:creationId xmlns:a16="http://schemas.microsoft.com/office/drawing/2014/main" id="{CA100D25-9D52-D420-8AAC-FE9937270484}"/>
              </a:ext>
            </a:extLst>
          </p:cNvPr>
          <p:cNvSpPr>
            <a:spLocks noChangeArrowheads="1"/>
          </p:cNvSpPr>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Project Idea</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Technologies Used</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System Structure</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Development Decisions</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Task Division</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Demonstration</a:t>
            </a:r>
          </a:p>
          <a:p>
            <a:pPr marL="228600" marR="0" lvl="0" indent="-457200" fontAlgn="base">
              <a:lnSpc>
                <a:spcPct val="90000"/>
              </a:lnSpc>
              <a:spcBef>
                <a:spcPct val="0"/>
              </a:spcBef>
              <a:spcAft>
                <a:spcPts val="600"/>
              </a:spcAft>
              <a:buClrTx/>
              <a:buSzTx/>
              <a:buFont typeface="+mj-lt"/>
              <a:buAutoNum type="arabicPeriod"/>
              <a:tabLst/>
            </a:pPr>
            <a:r>
              <a:rPr kumimoji="0" lang="en-US" altLang="en-US" sz="2000" b="0" i="0" u="none" strike="noStrike" cap="none" normalizeH="0" baseline="0" dirty="0">
                <a:ln>
                  <a:noFill/>
                </a:ln>
                <a:effectLst/>
              </a:rPr>
              <a:t>Conclusion</a:t>
            </a:r>
          </a:p>
          <a:p>
            <a:pPr marL="0" marR="0" lvl="0" indent="-228600" fontAlgn="base">
              <a:lnSpc>
                <a:spcPct val="90000"/>
              </a:lnSpc>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082935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41084D-4EA9-9F67-4D56-817382901744}"/>
              </a:ext>
            </a:extLst>
          </p:cNvPr>
          <p:cNvSpPr>
            <a:spLocks noGrp="1"/>
          </p:cNvSpPr>
          <p:nvPr>
            <p:ph type="title"/>
          </p:nvPr>
        </p:nvSpPr>
        <p:spPr/>
        <p:txBody>
          <a:bodyPr/>
          <a:lstStyle/>
          <a:p>
            <a:r>
              <a:rPr lang="de-DE" dirty="0"/>
              <a:t>Motivation</a:t>
            </a:r>
          </a:p>
        </p:txBody>
      </p:sp>
      <p:sp>
        <p:nvSpPr>
          <p:cNvPr id="3" name="Inhaltsplatzhalter 2">
            <a:extLst>
              <a:ext uri="{FF2B5EF4-FFF2-40B4-BE49-F238E27FC236}">
                <a16:creationId xmlns:a16="http://schemas.microsoft.com/office/drawing/2014/main" id="{DE5ACB14-07A7-6E9D-DF8B-5BE261815C15}"/>
              </a:ext>
            </a:extLst>
          </p:cNvPr>
          <p:cNvSpPr>
            <a:spLocks noGrp="1"/>
          </p:cNvSpPr>
          <p:nvPr>
            <p:ph idx="1"/>
          </p:nvPr>
        </p:nvSpPr>
        <p:spPr/>
        <p:txBody>
          <a:bodyPr>
            <a:normAutofit fontScale="92500" lnSpcReduction="10000"/>
          </a:bodyPr>
          <a:lstStyle/>
          <a:p>
            <a:pPr marL="0" indent="0">
              <a:buNone/>
            </a:pPr>
            <a:r>
              <a:rPr lang="en-US" b="1" dirty="0"/>
              <a:t>Why voice control?</a:t>
            </a:r>
          </a:p>
          <a:p>
            <a:r>
              <a:rPr lang="en-US" dirty="0"/>
              <a:t>Human-computer interaction </a:t>
            </a:r>
          </a:p>
          <a:p>
            <a:r>
              <a:rPr lang="en-US" dirty="0"/>
              <a:t>Lightweight alternative to vision systems </a:t>
            </a:r>
          </a:p>
          <a:p>
            <a:r>
              <a:rPr lang="en-US" dirty="0"/>
              <a:t>No large training dataset required</a:t>
            </a:r>
          </a:p>
          <a:p>
            <a:endParaRPr lang="de-DE" dirty="0"/>
          </a:p>
          <a:p>
            <a:r>
              <a:rPr lang="en-GB" dirty="0"/>
              <a:t>Maze game controlled by voice </a:t>
            </a:r>
          </a:p>
          <a:p>
            <a:r>
              <a:rPr lang="en-GB" dirty="0"/>
              <a:t>Combination of: </a:t>
            </a:r>
          </a:p>
          <a:p>
            <a:pPr lvl="1"/>
            <a:r>
              <a:rPr lang="en-GB" dirty="0"/>
              <a:t>Speech Recognition </a:t>
            </a:r>
          </a:p>
          <a:p>
            <a:pPr lvl="1"/>
            <a:r>
              <a:rPr lang="en-GB" dirty="0"/>
              <a:t>Game Development </a:t>
            </a:r>
          </a:p>
          <a:p>
            <a:pPr lvl="1"/>
            <a:r>
              <a:rPr lang="en-GB" dirty="0"/>
              <a:t>Real-time interaction</a:t>
            </a:r>
          </a:p>
          <a:p>
            <a:endParaRPr lang="de-DE" dirty="0"/>
          </a:p>
        </p:txBody>
      </p:sp>
    </p:spTree>
    <p:extLst>
      <p:ext uri="{BB962C8B-B14F-4D97-AF65-F5344CB8AC3E}">
        <p14:creationId xmlns:p14="http://schemas.microsoft.com/office/powerpoint/2010/main" val="569187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344914-F6CA-0805-4AC4-10385719B592}"/>
              </a:ext>
            </a:extLst>
          </p:cNvPr>
          <p:cNvSpPr>
            <a:spLocks noGrp="1"/>
          </p:cNvSpPr>
          <p:nvPr>
            <p:ph type="title"/>
          </p:nvPr>
        </p:nvSpPr>
        <p:spPr/>
        <p:txBody>
          <a:bodyPr/>
          <a:lstStyle/>
          <a:p>
            <a:r>
              <a:rPr lang="de-DE" dirty="0"/>
              <a:t>Project Goal</a:t>
            </a:r>
          </a:p>
        </p:txBody>
      </p:sp>
      <p:sp>
        <p:nvSpPr>
          <p:cNvPr id="6" name="Rectangle 3">
            <a:extLst>
              <a:ext uri="{FF2B5EF4-FFF2-40B4-BE49-F238E27FC236}">
                <a16:creationId xmlns:a16="http://schemas.microsoft.com/office/drawing/2014/main" id="{489896FB-2CDB-AF0F-F869-14AA93DDD1D8}"/>
              </a:ext>
            </a:extLst>
          </p:cNvPr>
          <p:cNvSpPr>
            <a:spLocks noGrp="1" noChangeArrowheads="1"/>
          </p:cNvSpPr>
          <p:nvPr>
            <p:ph idx="1"/>
          </p:nvPr>
        </p:nvSpPr>
        <p:spPr bwMode="auto">
          <a:xfrm>
            <a:off x="838200" y="1690688"/>
            <a:ext cx="5157053" cy="1427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en-US" dirty="0"/>
              <a:t>Control a game using speech</a:t>
            </a:r>
          </a:p>
          <a:p>
            <a:r>
              <a:rPr lang="de-DE" dirty="0" err="1"/>
              <a:t>Recognize</a:t>
            </a:r>
            <a:r>
              <a:rPr lang="de-DE" dirty="0"/>
              <a:t>: </a:t>
            </a:r>
            <a:r>
              <a:rPr lang="en-US" dirty="0"/>
              <a:t> up, down, </a:t>
            </a:r>
            <a:r>
              <a:rPr lang="en-US" dirty="0" err="1"/>
              <a:t>left,right</a:t>
            </a:r>
            <a:endParaRPr lang="en-US"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091301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C43200-F066-9A23-D854-DB860B26BAC5}"/>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Intoduction to Vosk</a:t>
            </a:r>
          </a:p>
        </p:txBody>
      </p:sp>
      <p:pic>
        <p:nvPicPr>
          <p:cNvPr id="8" name="Picture 7">
            <a:extLst>
              <a:ext uri="{FF2B5EF4-FFF2-40B4-BE49-F238E27FC236}">
                <a16:creationId xmlns:a16="http://schemas.microsoft.com/office/drawing/2014/main" id="{1B48D639-FD8A-0FDE-188F-EECB87DEF95B}"/>
              </a:ext>
            </a:extLst>
          </p:cNvPr>
          <p:cNvPicPr>
            <a:picLocks noChangeAspect="1"/>
          </p:cNvPicPr>
          <p:nvPr/>
        </p:nvPicPr>
        <p:blipFill>
          <a:blip r:embed="rId3"/>
          <a:stretch>
            <a:fillRect/>
          </a:stretch>
        </p:blipFill>
        <p:spPr>
          <a:xfrm>
            <a:off x="1665989" y="1966293"/>
            <a:ext cx="8860021" cy="4452160"/>
          </a:xfrm>
          <a:prstGeom prst="rect">
            <a:avLst/>
          </a:prstGeom>
        </p:spPr>
      </p:pic>
    </p:spTree>
    <p:extLst>
      <p:ext uri="{BB962C8B-B14F-4D97-AF65-F5344CB8AC3E}">
        <p14:creationId xmlns:p14="http://schemas.microsoft.com/office/powerpoint/2010/main" val="2968610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56D4CB-8D72-EA34-77AB-824233AF8759}"/>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D0EDDDC-0FAD-4229-A2BF-E00B79D55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E2916D6-8B87-2854-3944-1A2051FF92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4BB8EAD-00B0-CED7-D46B-AA505A22B4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BEA9C0D-0CFE-D0B1-9B50-A6F460CEE1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70697B-8D98-ADBA-4AF4-112D9BEF6834}"/>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GB" sz="4000" dirty="0">
                <a:solidFill>
                  <a:schemeClr val="bg1"/>
                </a:solidFill>
              </a:rPr>
              <a:t>Implementation of Voice Control</a:t>
            </a:r>
            <a:endParaRPr lang="en-US" sz="4000" kern="1200" dirty="0">
              <a:solidFill>
                <a:schemeClr val="bg1"/>
              </a:solidFill>
              <a:latin typeface="+mj-lt"/>
              <a:ea typeface="+mj-ea"/>
              <a:cs typeface="+mj-cs"/>
            </a:endParaRPr>
          </a:p>
        </p:txBody>
      </p:sp>
      <p:sp>
        <p:nvSpPr>
          <p:cNvPr id="3" name="Content Placeholder 2">
            <a:extLst>
              <a:ext uri="{FF2B5EF4-FFF2-40B4-BE49-F238E27FC236}">
                <a16:creationId xmlns:a16="http://schemas.microsoft.com/office/drawing/2014/main" id="{A8A93CD5-2767-92E3-8B6B-2A03214C2653}"/>
              </a:ext>
            </a:extLst>
          </p:cNvPr>
          <p:cNvSpPr>
            <a:spLocks noGrp="1"/>
          </p:cNvSpPr>
          <p:nvPr>
            <p:ph idx="1"/>
          </p:nvPr>
        </p:nvSpPr>
        <p:spPr>
          <a:xfrm>
            <a:off x="838200" y="1825625"/>
            <a:ext cx="10515600" cy="4351338"/>
          </a:xfrm>
        </p:spPr>
        <p:txBody>
          <a:bodyPr/>
          <a:lstStyle/>
          <a:p>
            <a:r>
              <a:rPr lang="en-GB" dirty="0"/>
              <a:t>Why did we choose </a:t>
            </a:r>
            <a:r>
              <a:rPr lang="en-GB" dirty="0" err="1"/>
              <a:t>Vosk</a:t>
            </a:r>
            <a:r>
              <a:rPr lang="en-GB" dirty="0"/>
              <a:t>?</a:t>
            </a:r>
          </a:p>
          <a:p>
            <a:pPr lvl="1"/>
            <a:r>
              <a:rPr lang="en-GB" dirty="0"/>
              <a:t>Pretrained model </a:t>
            </a:r>
            <a:r>
              <a:rPr lang="en-GB" dirty="0">
                <a:sym typeface="Wingdings" panose="05000000000000000000" pitchFamily="2" charset="2"/>
              </a:rPr>
              <a:t> Transfer Learning</a:t>
            </a:r>
            <a:endParaRPr lang="en-GB" dirty="0"/>
          </a:p>
          <a:p>
            <a:pPr lvl="1"/>
            <a:r>
              <a:rPr lang="en-GB" dirty="0"/>
              <a:t>Real-time speech recognition </a:t>
            </a:r>
          </a:p>
          <a:p>
            <a:pPr lvl="1"/>
            <a:r>
              <a:rPr lang="en-GB" dirty="0"/>
              <a:t>Works offline</a:t>
            </a:r>
          </a:p>
          <a:p>
            <a:pPr lvl="1"/>
            <a:endParaRPr lang="en-GB" dirty="0"/>
          </a:p>
          <a:p>
            <a:r>
              <a:rPr lang="en-GB" dirty="0"/>
              <a:t>WER of 9,85 – 10,38, BUT Accuracy depends on: </a:t>
            </a:r>
          </a:p>
          <a:p>
            <a:pPr lvl="1"/>
            <a:r>
              <a:rPr lang="en-GB" dirty="0"/>
              <a:t>Microphone quality </a:t>
            </a:r>
          </a:p>
          <a:p>
            <a:pPr lvl="1"/>
            <a:r>
              <a:rPr lang="en-GB" dirty="0"/>
              <a:t>Background noise </a:t>
            </a:r>
          </a:p>
          <a:p>
            <a:pPr lvl="1"/>
            <a:r>
              <a:rPr lang="en-GB" dirty="0"/>
              <a:t>Pronunciation / accent </a:t>
            </a:r>
          </a:p>
          <a:p>
            <a:pPr lvl="1"/>
            <a:endParaRPr lang="en-GB" dirty="0"/>
          </a:p>
          <a:p>
            <a:endParaRPr lang="en-GB" dirty="0"/>
          </a:p>
        </p:txBody>
      </p:sp>
      <p:pic>
        <p:nvPicPr>
          <p:cNvPr id="4" name="Picture 3">
            <a:extLst>
              <a:ext uri="{FF2B5EF4-FFF2-40B4-BE49-F238E27FC236}">
                <a16:creationId xmlns:a16="http://schemas.microsoft.com/office/drawing/2014/main" id="{48F50F23-5026-C56B-983A-5B3D42C6E679}"/>
              </a:ext>
            </a:extLst>
          </p:cNvPr>
          <p:cNvPicPr>
            <a:picLocks noChangeAspect="1"/>
          </p:cNvPicPr>
          <p:nvPr/>
        </p:nvPicPr>
        <p:blipFill>
          <a:blip r:embed="rId3"/>
          <a:stretch>
            <a:fillRect/>
          </a:stretch>
        </p:blipFill>
        <p:spPr>
          <a:xfrm>
            <a:off x="6148754" y="4753862"/>
            <a:ext cx="5205046" cy="1739013"/>
          </a:xfrm>
          <a:prstGeom prst="rect">
            <a:avLst/>
          </a:prstGeom>
        </p:spPr>
      </p:pic>
      <p:pic>
        <p:nvPicPr>
          <p:cNvPr id="5" name="Picture 4">
            <a:extLst>
              <a:ext uri="{FF2B5EF4-FFF2-40B4-BE49-F238E27FC236}">
                <a16:creationId xmlns:a16="http://schemas.microsoft.com/office/drawing/2014/main" id="{B0EA5C4F-F630-57F3-9FA6-25CE106F9F9E}"/>
              </a:ext>
            </a:extLst>
          </p:cNvPr>
          <p:cNvPicPr>
            <a:picLocks noChangeAspect="1"/>
          </p:cNvPicPr>
          <p:nvPr/>
        </p:nvPicPr>
        <p:blipFill>
          <a:blip r:embed="rId4"/>
          <a:stretch>
            <a:fillRect/>
          </a:stretch>
        </p:blipFill>
        <p:spPr>
          <a:xfrm>
            <a:off x="8981744" y="2732712"/>
            <a:ext cx="2372056" cy="1886213"/>
          </a:xfrm>
          <a:prstGeom prst="rect">
            <a:avLst/>
          </a:prstGeom>
        </p:spPr>
      </p:pic>
    </p:spTree>
    <p:extLst>
      <p:ext uri="{BB962C8B-B14F-4D97-AF65-F5344CB8AC3E}">
        <p14:creationId xmlns:p14="http://schemas.microsoft.com/office/powerpoint/2010/main" val="30705973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E91ACC9-79D4-17C2-681B-F78A70151FD9}"/>
              </a:ext>
            </a:extLst>
          </p:cNvPr>
          <p:cNvSpPr>
            <a:spLocks noGrp="1"/>
          </p:cNvSpPr>
          <p:nvPr>
            <p:ph type="title"/>
          </p:nvPr>
        </p:nvSpPr>
        <p:spPr/>
        <p:txBody>
          <a:bodyPr/>
          <a:lstStyle/>
          <a:p>
            <a:r>
              <a:rPr lang="de-DE" dirty="0"/>
              <a:t>System </a:t>
            </a:r>
            <a:r>
              <a:rPr lang="de-DE" dirty="0" err="1"/>
              <a:t>Overview</a:t>
            </a:r>
            <a:endParaRPr lang="de-DE" dirty="0"/>
          </a:p>
        </p:txBody>
      </p:sp>
      <p:sp>
        <p:nvSpPr>
          <p:cNvPr id="3" name="Inhaltsplatzhalter 2">
            <a:extLst>
              <a:ext uri="{FF2B5EF4-FFF2-40B4-BE49-F238E27FC236}">
                <a16:creationId xmlns:a16="http://schemas.microsoft.com/office/drawing/2014/main" id="{DAB83250-174B-4DC9-6B1F-0F086478514B}"/>
              </a:ext>
            </a:extLst>
          </p:cNvPr>
          <p:cNvSpPr>
            <a:spLocks noGrp="1"/>
          </p:cNvSpPr>
          <p:nvPr>
            <p:ph idx="1"/>
          </p:nvPr>
        </p:nvSpPr>
        <p:spPr/>
        <p:txBody>
          <a:bodyPr/>
          <a:lstStyle/>
          <a:p>
            <a:r>
              <a:rPr lang="en-US" dirty="0"/>
              <a:t>Audio input </a:t>
            </a:r>
          </a:p>
          <a:p>
            <a:r>
              <a:rPr lang="en-US" dirty="0"/>
              <a:t>MFCC feature extraction </a:t>
            </a:r>
          </a:p>
          <a:p>
            <a:r>
              <a:rPr lang="en-US" dirty="0"/>
              <a:t>DNN + HMM processing </a:t>
            </a:r>
          </a:p>
          <a:p>
            <a:r>
              <a:rPr lang="en-US" dirty="0"/>
              <a:t>Word prediction</a:t>
            </a:r>
          </a:p>
          <a:p>
            <a:endParaRPr lang="de-DE" dirty="0"/>
          </a:p>
        </p:txBody>
      </p:sp>
    </p:spTree>
    <p:extLst>
      <p:ext uri="{BB962C8B-B14F-4D97-AF65-F5344CB8AC3E}">
        <p14:creationId xmlns:p14="http://schemas.microsoft.com/office/powerpoint/2010/main" val="4669137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111BCC-1FCB-797D-6A46-449BCAB31DD4}"/>
              </a:ext>
            </a:extLst>
          </p:cNvPr>
          <p:cNvSpPr>
            <a:spLocks noGrp="1"/>
          </p:cNvSpPr>
          <p:nvPr>
            <p:ph type="title"/>
          </p:nvPr>
        </p:nvSpPr>
        <p:spPr/>
        <p:txBody>
          <a:bodyPr/>
          <a:lstStyle/>
          <a:p>
            <a:r>
              <a:rPr lang="de-DE" dirty="0" err="1"/>
              <a:t>Conclusion</a:t>
            </a:r>
            <a:endParaRPr lang="de-DE" dirty="0"/>
          </a:p>
        </p:txBody>
      </p:sp>
      <p:sp>
        <p:nvSpPr>
          <p:cNvPr id="3" name="Inhaltsplatzhalter 2">
            <a:extLst>
              <a:ext uri="{FF2B5EF4-FFF2-40B4-BE49-F238E27FC236}">
                <a16:creationId xmlns:a16="http://schemas.microsoft.com/office/drawing/2014/main" id="{13680EE8-07C5-28E5-EB00-12F747B70BC0}"/>
              </a:ext>
            </a:extLst>
          </p:cNvPr>
          <p:cNvSpPr>
            <a:spLocks noGrp="1"/>
          </p:cNvSpPr>
          <p:nvPr>
            <p:ph idx="1"/>
          </p:nvPr>
        </p:nvSpPr>
        <p:spPr/>
        <p:txBody>
          <a:bodyPr/>
          <a:lstStyle/>
          <a:p>
            <a:r>
              <a:rPr lang="de-DE" dirty="0" err="1"/>
              <a:t>Successful</a:t>
            </a:r>
            <a:r>
              <a:rPr lang="de-DE" dirty="0"/>
              <a:t> </a:t>
            </a:r>
            <a:r>
              <a:rPr lang="de-DE" dirty="0" err="1"/>
              <a:t>proof</a:t>
            </a:r>
            <a:r>
              <a:rPr lang="de-DE" dirty="0"/>
              <a:t> </a:t>
            </a:r>
            <a:r>
              <a:rPr lang="de-DE" dirty="0" err="1"/>
              <a:t>of</a:t>
            </a:r>
            <a:r>
              <a:rPr lang="de-DE" dirty="0"/>
              <a:t> </a:t>
            </a:r>
            <a:r>
              <a:rPr lang="de-DE" dirty="0" err="1"/>
              <a:t>concept</a:t>
            </a:r>
            <a:endParaRPr lang="de-DE" dirty="0"/>
          </a:p>
          <a:p>
            <a:r>
              <a:rPr lang="de-DE" dirty="0"/>
              <a:t>Speech </a:t>
            </a:r>
            <a:r>
              <a:rPr lang="de-DE" dirty="0" err="1"/>
              <a:t>as</a:t>
            </a:r>
            <a:r>
              <a:rPr lang="de-DE" dirty="0"/>
              <a:t> </a:t>
            </a:r>
            <a:r>
              <a:rPr lang="de-DE" dirty="0" err="1"/>
              <a:t>lightweight</a:t>
            </a:r>
            <a:r>
              <a:rPr lang="de-DE" dirty="0"/>
              <a:t> interface</a:t>
            </a:r>
            <a:endParaRPr lang="en-US" dirty="0"/>
          </a:p>
          <a:p>
            <a:r>
              <a:rPr lang="en-US" dirty="0"/>
              <a:t>Real-time control works </a:t>
            </a:r>
          </a:p>
          <a:p>
            <a:r>
              <a:rPr lang="en-US" dirty="0"/>
              <a:t>Reliable command recognition </a:t>
            </a:r>
          </a:p>
        </p:txBody>
      </p:sp>
    </p:spTree>
    <p:extLst>
      <p:ext uri="{BB962C8B-B14F-4D97-AF65-F5344CB8AC3E}">
        <p14:creationId xmlns:p14="http://schemas.microsoft.com/office/powerpoint/2010/main" val="3625072128"/>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459</Words>
  <Application>Microsoft Office PowerPoint</Application>
  <PresentationFormat>Widescreen</PresentationFormat>
  <Paragraphs>69</Paragraphs>
  <Slides>8</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Wingdings</vt:lpstr>
      <vt:lpstr>Office</vt:lpstr>
      <vt:lpstr>Voice-Controlled Maze Game SCBIO Final Project 2026</vt:lpstr>
      <vt:lpstr>Outline</vt:lpstr>
      <vt:lpstr>Motivation</vt:lpstr>
      <vt:lpstr>Project Goal</vt:lpstr>
      <vt:lpstr>Intoduction to Vosk</vt:lpstr>
      <vt:lpstr>Implementation of Voice Control</vt:lpstr>
      <vt:lpstr>System Overview</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Vogt</dc:creator>
  <cp:lastModifiedBy>Luca Steven Delli Castelli</cp:lastModifiedBy>
  <cp:revision>3</cp:revision>
  <dcterms:created xsi:type="dcterms:W3CDTF">2026-05-25T09:07:15Z</dcterms:created>
  <dcterms:modified xsi:type="dcterms:W3CDTF">2026-05-25T22:27:49Z</dcterms:modified>
</cp:coreProperties>
</file>